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91" r:id="rId3"/>
    <p:sldId id="258" r:id="rId4"/>
    <p:sldId id="298" r:id="rId5"/>
    <p:sldId id="274" r:id="rId6"/>
    <p:sldId id="278" r:id="rId7"/>
    <p:sldId id="302" r:id="rId8"/>
    <p:sldId id="259" r:id="rId9"/>
    <p:sldId id="283" r:id="rId10"/>
    <p:sldId id="279" r:id="rId11"/>
    <p:sldId id="272" r:id="rId12"/>
    <p:sldId id="268" r:id="rId13"/>
    <p:sldId id="292" r:id="rId14"/>
    <p:sldId id="295" r:id="rId15"/>
    <p:sldId id="287" r:id="rId16"/>
    <p:sldId id="261" r:id="rId17"/>
    <p:sldId id="293" r:id="rId18"/>
    <p:sldId id="296" r:id="rId19"/>
    <p:sldId id="265" r:id="rId20"/>
    <p:sldId id="303" r:id="rId21"/>
    <p:sldId id="294" r:id="rId22"/>
    <p:sldId id="275" r:id="rId23"/>
    <p:sldId id="267" r:id="rId24"/>
    <p:sldId id="297" r:id="rId25"/>
    <p:sldId id="285" r:id="rId26"/>
    <p:sldId id="276" r:id="rId27"/>
    <p:sldId id="304" r:id="rId28"/>
  </p:sldIdLst>
  <p:sldSz cx="12188825" cy="6858000"/>
  <p:notesSz cx="7010400" cy="929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74C"/>
    <a:srgbClr val="7CDC85"/>
    <a:srgbClr val="85D7FC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53" autoAdjust="0"/>
    <p:restoredTop sz="45185" autoAdjust="0"/>
  </p:normalViewPr>
  <p:slideViewPr>
    <p:cSldViewPr snapToGrid="0" snapToObjects="1">
      <p:cViewPr varScale="1">
        <p:scale>
          <a:sx n="72" d="100"/>
          <a:sy n="72" d="100"/>
        </p:scale>
        <p:origin x="308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1" d="100"/>
          <a:sy n="91" d="100"/>
        </p:scale>
        <p:origin x="4901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6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everyone!</a:t>
            </a:r>
          </a:p>
          <a:p>
            <a:endParaRPr lang="en-US" dirty="0"/>
          </a:p>
          <a:p>
            <a:r>
              <a:rPr lang="en-US" dirty="0"/>
              <a:t>I’m Mark Wickham, from Dallas Texas.</a:t>
            </a:r>
          </a:p>
          <a:p>
            <a:endParaRPr lang="en-US" dirty="0"/>
          </a:p>
          <a:p>
            <a:r>
              <a:rPr lang="en-US" dirty="0"/>
              <a:t>I am very happy to </a:t>
            </a:r>
            <a:r>
              <a:rPr lang="en-US" b="1" dirty="0"/>
              <a:t>come</a:t>
            </a:r>
            <a:r>
              <a:rPr lang="en-US" dirty="0"/>
              <a:t> to Tokyo and </a:t>
            </a:r>
            <a:r>
              <a:rPr lang="en-US" b="1" dirty="0"/>
              <a:t>meet</a:t>
            </a:r>
            <a:r>
              <a:rPr lang="en-US" dirty="0"/>
              <a:t> you, and </a:t>
            </a:r>
            <a:r>
              <a:rPr lang="en-US" b="1" dirty="0"/>
              <a:t>talk</a:t>
            </a:r>
            <a:r>
              <a:rPr lang="en-US" dirty="0"/>
              <a:t> about Android Voice systems.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My session is </a:t>
            </a:r>
            <a:r>
              <a:rPr lang="en-US" b="1" dirty="0"/>
              <a:t>“Android Gets A Voice!”</a:t>
            </a:r>
          </a:p>
          <a:p>
            <a:endParaRPr lang="en-US" dirty="0"/>
          </a:p>
          <a:p>
            <a:r>
              <a:rPr lang="en-US" dirty="0"/>
              <a:t>Just a quick background on myself, I worked in Beijing for many years as the Engineering Manager at Motorola.</a:t>
            </a:r>
          </a:p>
          <a:p>
            <a:endParaRPr lang="en-US" dirty="0"/>
          </a:p>
          <a:p>
            <a:r>
              <a:rPr lang="en-US" dirty="0"/>
              <a:t>That is when I got introduced to mobile development and Android --- since the very beginning.</a:t>
            </a:r>
          </a:p>
          <a:p>
            <a:endParaRPr lang="en-US" dirty="0"/>
          </a:p>
          <a:p>
            <a:r>
              <a:rPr lang="en-US" dirty="0"/>
              <a:t>Two important things before we get started, </a:t>
            </a:r>
          </a:p>
          <a:p>
            <a:endParaRPr lang="en-US" dirty="0"/>
          </a:p>
          <a:p>
            <a:r>
              <a:rPr lang="en-US" dirty="0"/>
              <a:t>First, I invite you to </a:t>
            </a:r>
            <a:r>
              <a:rPr lang="en-US" b="1" dirty="0"/>
              <a:t>Connect</a:t>
            </a:r>
            <a:r>
              <a:rPr lang="en-US" dirty="0"/>
              <a:t> with me on LinkedIn. Here is my account</a:t>
            </a:r>
          </a:p>
          <a:p>
            <a:endParaRPr lang="en-US" dirty="0"/>
          </a:p>
          <a:p>
            <a:r>
              <a:rPr lang="en-US" dirty="0"/>
              <a:t>And Second, here is the link is the </a:t>
            </a:r>
            <a:r>
              <a:rPr lang="en-US" b="1" dirty="0"/>
              <a:t>Github Repository </a:t>
            </a:r>
            <a:r>
              <a:rPr lang="en-US" dirty="0"/>
              <a:t>for ALL of this session assets.</a:t>
            </a:r>
          </a:p>
          <a:p>
            <a:endParaRPr lang="en-US" dirty="0"/>
          </a:p>
          <a:p>
            <a:r>
              <a:rPr lang="en-US" dirty="0"/>
              <a:t>It includes the slides, the important files, and all of the complete code for the 3 Android apps we will build.</a:t>
            </a:r>
          </a:p>
          <a:p>
            <a:endParaRPr lang="en-US" dirty="0"/>
          </a:p>
          <a:p>
            <a:r>
              <a:rPr lang="en-US" dirty="0"/>
              <a:t>[Exit and show the Github page]</a:t>
            </a:r>
          </a:p>
          <a:p>
            <a:endParaRPr lang="en-US" dirty="0"/>
          </a:p>
          <a:p>
            <a:r>
              <a:rPr lang="en-US" dirty="0"/>
              <a:t> This is the high level Github repository.</a:t>
            </a:r>
          </a:p>
          <a:p>
            <a:endParaRPr lang="en-US" dirty="0"/>
          </a:p>
          <a:p>
            <a:r>
              <a:rPr lang="en-US" dirty="0"/>
              <a:t>We can see a summary of all the repositories here. Also, these slides are included in the slides folder.</a:t>
            </a:r>
          </a:p>
          <a:p>
            <a:endParaRPr lang="en-US" dirty="0"/>
          </a:p>
          <a:p>
            <a:r>
              <a:rPr lang="en-US" dirty="0"/>
              <a:t>The presentation time is </a:t>
            </a:r>
            <a:r>
              <a:rPr lang="en-US" b="1" dirty="0"/>
              <a:t>very short.</a:t>
            </a:r>
            <a:r>
              <a:rPr lang="en-US" dirty="0"/>
              <a:t>, I have to keep a fast pace to get through all the materials, but I’m happy to help you after this session if you have any questions.</a:t>
            </a:r>
          </a:p>
          <a:p>
            <a:endParaRPr lang="en-US" dirty="0"/>
          </a:p>
          <a:p>
            <a:r>
              <a:rPr lang="en-US" dirty="0"/>
              <a:t>So, Let’s get started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DFF68-A05D-6B7D-6B05-25469985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AA3BF-937F-73B5-A52E-85F9C20BD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9E287-802B-6794-37F5-0397F2ADA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passionate about voice systems. I have been building them for many years.</a:t>
            </a:r>
          </a:p>
          <a:p>
            <a:endParaRPr lang="en-US" dirty="0"/>
          </a:p>
          <a:p>
            <a:r>
              <a:rPr lang="en-US" dirty="0"/>
              <a:t>I believe that Voice is the future, and there are several important reasons I wish to share with you.</a:t>
            </a:r>
          </a:p>
          <a:p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Voice input is 4 times faster than typing.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Voice can carry emotion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Voice is immediately recognizable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Voice is simple, we only need a mic and a speaker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LLM, an exciting new development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Coding agents make it simple to create the complex systems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the best part ….    Our ANDROID devices are the perfect platform to realize these systems.</a:t>
            </a:r>
          </a:p>
          <a:p>
            <a:pPr marL="228600" indent="-228600">
              <a:buAutoNum type="arabicParenR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C8CFB-2A6C-9408-25DB-87836D83C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83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our </a:t>
            </a:r>
            <a:r>
              <a:rPr lang="en-US" b="1" dirty="0"/>
              <a:t>AGENDA</a:t>
            </a:r>
            <a:r>
              <a:rPr lang="en-US" dirty="0"/>
              <a:t>, there are </a:t>
            </a:r>
            <a:r>
              <a:rPr lang="en-US" b="1" dirty="0"/>
              <a:t>3 parts</a:t>
            </a:r>
          </a:p>
          <a:p>
            <a:endParaRPr lang="en-US" dirty="0"/>
          </a:p>
          <a:p>
            <a:r>
              <a:rPr lang="en-US" b="1" dirty="0"/>
              <a:t>Part 1</a:t>
            </a:r>
            <a:r>
              <a:rPr lang="en-US" dirty="0"/>
              <a:t> includes my </a:t>
            </a:r>
            <a:r>
              <a:rPr lang="en-US" b="1" dirty="0"/>
              <a:t>Coding Approach</a:t>
            </a:r>
            <a:r>
              <a:rPr lang="en-US" dirty="0"/>
              <a:t>:  I will describe how I create Android Voice apps using coding agents and markdown templates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Part 2</a:t>
            </a:r>
            <a:r>
              <a:rPr lang="en-US" dirty="0"/>
              <a:t> is the  </a:t>
            </a:r>
            <a:r>
              <a:rPr lang="en-US" b="1" dirty="0"/>
              <a:t>Voice Fundamentals</a:t>
            </a:r>
            <a:r>
              <a:rPr lang="en-US" dirty="0"/>
              <a:t>: I will introduce you to the important fundamentals of voice systems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Part 3</a:t>
            </a:r>
            <a:r>
              <a:rPr lang="en-US" dirty="0"/>
              <a:t> includes 3 complete voice architectures and we will create an Android app to demonstrate each one.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first app </a:t>
            </a:r>
            <a:r>
              <a:rPr lang="en-US" dirty="0"/>
              <a:t>is </a:t>
            </a:r>
            <a:r>
              <a:rPr lang="en-US" b="1" dirty="0"/>
              <a:t>GVP</a:t>
            </a:r>
            <a:r>
              <a:rPr lang="en-US" dirty="0"/>
              <a:t>, which stands for Google Voice pipeline.</a:t>
            </a:r>
          </a:p>
          <a:p>
            <a:endParaRPr lang="en-US" dirty="0"/>
          </a:p>
          <a:p>
            <a:r>
              <a:rPr lang="en-US" dirty="0"/>
              <a:t>It is a completely </a:t>
            </a:r>
            <a:r>
              <a:rPr lang="en-US" b="1" dirty="0"/>
              <a:t>on device </a:t>
            </a:r>
            <a:r>
              <a:rPr lang="en-US" dirty="0"/>
              <a:t>voice system which does not require any external device connection.</a:t>
            </a:r>
          </a:p>
          <a:p>
            <a:endParaRPr lang="en-US" dirty="0"/>
          </a:p>
          <a:p>
            <a:r>
              <a:rPr lang="en-US" dirty="0"/>
              <a:t>It is amazing that we have the capability to create his system LOCALLY.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second app </a:t>
            </a:r>
            <a:r>
              <a:rPr lang="en-US" dirty="0"/>
              <a:t>is called </a:t>
            </a:r>
            <a:r>
              <a:rPr lang="en-US" b="1" dirty="0"/>
              <a:t>Cliff</a:t>
            </a:r>
            <a:r>
              <a:rPr lang="en-US" dirty="0"/>
              <a:t>. It’s named after my Grandfather.</a:t>
            </a:r>
          </a:p>
          <a:p>
            <a:endParaRPr lang="en-US" dirty="0"/>
          </a:p>
          <a:p>
            <a:r>
              <a:rPr lang="en-US" dirty="0"/>
              <a:t>Cliff is a </a:t>
            </a:r>
            <a:r>
              <a:rPr lang="en-US" b="1" dirty="0"/>
              <a:t>CLOUD based </a:t>
            </a:r>
            <a:r>
              <a:rPr lang="en-US" dirty="0"/>
              <a:t>voice app which uses state of the art cloud models to accomplish the voice pipeline functions.</a:t>
            </a:r>
          </a:p>
          <a:p>
            <a:endParaRPr lang="en-US" dirty="0"/>
          </a:p>
          <a:p>
            <a:r>
              <a:rPr lang="en-US" dirty="0"/>
              <a:t>Moving functions to the </a:t>
            </a:r>
            <a:r>
              <a:rPr lang="en-US" b="1" dirty="0"/>
              <a:t>cloud</a:t>
            </a:r>
            <a:r>
              <a:rPr lang="en-US" dirty="0"/>
              <a:t> allows us to create more powerful voice systems, because we can use </a:t>
            </a:r>
            <a:r>
              <a:rPr lang="en-US" b="1" dirty="0"/>
              <a:t>stronger</a:t>
            </a:r>
            <a:r>
              <a:rPr lang="en-US" dirty="0"/>
              <a:t> LLM Models. </a:t>
            </a:r>
          </a:p>
          <a:p>
            <a:endParaRPr lang="en-US" dirty="0"/>
          </a:p>
          <a:p>
            <a:r>
              <a:rPr lang="en-US" dirty="0"/>
              <a:t>I will show you how to implement the required network functions, including security </a:t>
            </a:r>
            <a:r>
              <a:rPr lang="en-US" b="1" dirty="0"/>
              <a:t>token management </a:t>
            </a:r>
            <a:r>
              <a:rPr lang="en-US" dirty="0"/>
              <a:t>considerations.</a:t>
            </a:r>
          </a:p>
          <a:p>
            <a:endParaRPr lang="en-US" dirty="0"/>
          </a:p>
          <a:p>
            <a:r>
              <a:rPr lang="en-US" dirty="0"/>
              <a:t>And we will speak to Cliff in Japanese, to demonstrate </a:t>
            </a:r>
            <a:r>
              <a:rPr lang="en-US" b="1" dirty="0"/>
              <a:t>multilanguage</a:t>
            </a:r>
            <a:r>
              <a:rPr lang="en-US" dirty="0"/>
              <a:t> agents.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3</a:t>
            </a:r>
            <a:r>
              <a:rPr lang="en-US" b="1" baseline="30000" dirty="0"/>
              <a:t>rd</a:t>
            </a:r>
            <a:r>
              <a:rPr lang="en-US" b="1" dirty="0"/>
              <a:t> app </a:t>
            </a:r>
            <a:r>
              <a:rPr lang="en-US" dirty="0"/>
              <a:t>is called </a:t>
            </a:r>
            <a:r>
              <a:rPr lang="en-US" b="1" dirty="0"/>
              <a:t>Pipecat Client</a:t>
            </a:r>
            <a:r>
              <a:rPr lang="en-US" dirty="0"/>
              <a:t>, or </a:t>
            </a:r>
            <a:r>
              <a:rPr lang="en-US" b="1" dirty="0"/>
              <a:t>Pica</a:t>
            </a:r>
            <a:r>
              <a:rPr lang="en-US" dirty="0"/>
              <a:t>. Pipecat is a powerful audio framework.</a:t>
            </a:r>
          </a:p>
          <a:p>
            <a:endParaRPr lang="en-US" dirty="0"/>
          </a:p>
          <a:p>
            <a:r>
              <a:rPr lang="en-US" dirty="0"/>
              <a:t>The Pica app will let us create powerful AI voice Agents on Android.</a:t>
            </a:r>
          </a:p>
          <a:p>
            <a:endParaRPr lang="en-US" dirty="0"/>
          </a:p>
          <a:p>
            <a:r>
              <a:rPr lang="en-US" dirty="0"/>
              <a:t>Our Pica agent will be </a:t>
            </a:r>
            <a:r>
              <a:rPr lang="en-US" b="1" dirty="0"/>
              <a:t>Homer</a:t>
            </a:r>
            <a:r>
              <a:rPr lang="en-US" dirty="0"/>
              <a:t>, a </a:t>
            </a:r>
            <a:r>
              <a:rPr lang="en-US" b="1" dirty="0"/>
              <a:t>baseball expert </a:t>
            </a:r>
            <a:r>
              <a:rPr lang="en-US" dirty="0"/>
              <a:t>who loves the MLB., the Dodgers, and Shohei,</a:t>
            </a:r>
          </a:p>
          <a:p>
            <a:endParaRPr lang="en-US" dirty="0"/>
          </a:p>
          <a:p>
            <a:r>
              <a:rPr lang="en-US" dirty="0"/>
              <a:t>When we speak to Homer, we will ask him how the </a:t>
            </a:r>
            <a:r>
              <a:rPr lang="en-US" b="1" dirty="0"/>
              <a:t>Dodgers played last night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complete code for each of the 3 apps is on the Github. If one of these approaches matches your requirements, you can easily adapt them for your own use case.</a:t>
            </a:r>
          </a:p>
          <a:p>
            <a:endParaRPr lang="en-US" dirty="0"/>
          </a:p>
          <a:p>
            <a:r>
              <a:rPr lang="en-US" dirty="0"/>
              <a:t>So, let get started!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70B4-A235-377A-4D74-D190BBA2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B162D-62AD-1135-1FA8-B1911F106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54BDF-D038-F6B6-D99F-4A4BD0CF4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 want to introduce you to my </a:t>
            </a:r>
            <a:r>
              <a:rPr lang="en-US" b="1" dirty="0"/>
              <a:t>coding approach</a:t>
            </a:r>
            <a:r>
              <a:rPr lang="en-US" dirty="0"/>
              <a:t>. It’s such a fast-moving area in Android Development with the rise of the very helpful </a:t>
            </a:r>
            <a:r>
              <a:rPr lang="en-US" b="1" dirty="0"/>
              <a:t>coding agents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EXCITING NEWS</a:t>
            </a:r>
            <a:r>
              <a:rPr lang="en-US" dirty="0"/>
              <a:t>:  We are living in a new world where we no longer have to write code ourselves.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Everyone has </a:t>
            </a:r>
            <a:r>
              <a:rPr lang="en-US" b="1" dirty="0"/>
              <a:t>their own approach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is how I build Android voice apps. I </a:t>
            </a:r>
            <a:r>
              <a:rPr lang="en-US" b="1" dirty="0"/>
              <a:t>built all 3 </a:t>
            </a:r>
            <a:r>
              <a:rPr lang="en-US" dirty="0"/>
              <a:t>of the Android voice apps for this session using this approach.</a:t>
            </a:r>
          </a:p>
          <a:p>
            <a:endParaRPr lang="en-US" dirty="0"/>
          </a:p>
          <a:p>
            <a:r>
              <a:rPr lang="en-US" dirty="0"/>
              <a:t>I didn’t directly write the code myself; I simply told my coding agent what to write using a </a:t>
            </a:r>
            <a:r>
              <a:rPr lang="en-US" b="1" dirty="0"/>
              <a:t>detailed markdown file template </a:t>
            </a:r>
            <a:r>
              <a:rPr lang="en-US" dirty="0"/>
              <a:t>I created for voice systems.</a:t>
            </a:r>
          </a:p>
          <a:p>
            <a:endParaRPr lang="en-US" dirty="0"/>
          </a:p>
          <a:p>
            <a:r>
              <a:rPr lang="en-US" dirty="0"/>
              <a:t>In Android Studio, I ask </a:t>
            </a:r>
            <a:r>
              <a:rPr lang="en-US" b="1" dirty="0"/>
              <a:t>Claude</a:t>
            </a:r>
            <a:r>
              <a:rPr lang="en-US" dirty="0"/>
              <a:t>, my coding agent to “</a:t>
            </a:r>
            <a:r>
              <a:rPr lang="en-US" b="1" dirty="0"/>
              <a:t>SCAFFOLD</a:t>
            </a:r>
            <a:r>
              <a:rPr lang="en-US" dirty="0"/>
              <a:t>” the app from my markdown file.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Of course you could also use Code or Gemini or even open source models to write your code.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 these new coding agents, everyone is figuring out their own way forward, </a:t>
            </a:r>
          </a:p>
          <a:p>
            <a:endParaRPr lang="en-US" dirty="0"/>
          </a:p>
          <a:p>
            <a:r>
              <a:rPr lang="en-US" dirty="0"/>
              <a:t>I encourage you to discover your approach by talking and sharing with other developers.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D4BA1-3FC6-F783-77B4-5E67E9F5B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55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AI Coding Agents help us to be more </a:t>
            </a:r>
            <a:r>
              <a:rPr lang="en-US" b="1" dirty="0"/>
              <a:t>PRODUCTIVE.</a:t>
            </a:r>
          </a:p>
          <a:p>
            <a:endParaRPr lang="en-US" dirty="0"/>
          </a:p>
          <a:p>
            <a:r>
              <a:rPr lang="en-US" dirty="0"/>
              <a:t>With helpful coding agents, we can think of ourselves as </a:t>
            </a:r>
            <a:r>
              <a:rPr lang="en-US" b="1" dirty="0"/>
              <a:t>SOFTWARE ARCHITECTS</a:t>
            </a:r>
          </a:p>
          <a:p>
            <a:endParaRPr lang="en-US" b="1" dirty="0"/>
          </a:p>
          <a:p>
            <a:r>
              <a:rPr lang="en-US" b="0" dirty="0"/>
              <a:t>Our job is to guide the coding agent.</a:t>
            </a:r>
          </a:p>
          <a:p>
            <a:endParaRPr lang="en-US" dirty="0"/>
          </a:p>
          <a:p>
            <a:r>
              <a:rPr lang="en-US" dirty="0"/>
              <a:t>Here is the 4 step approach I follow:</a:t>
            </a:r>
          </a:p>
          <a:p>
            <a:endParaRPr lang="en-US" dirty="0"/>
          </a:p>
          <a:p>
            <a:r>
              <a:rPr lang="en-US" dirty="0"/>
              <a:t>Step 1 : Define the </a:t>
            </a:r>
            <a:r>
              <a:rPr lang="en-US" b="1" dirty="0"/>
              <a:t>requirements</a:t>
            </a:r>
          </a:p>
          <a:p>
            <a:endParaRPr lang="en-US" dirty="0"/>
          </a:p>
          <a:p>
            <a:r>
              <a:rPr lang="en-US" dirty="0"/>
              <a:t>Step 2: </a:t>
            </a:r>
            <a:r>
              <a:rPr lang="en-US" b="1" dirty="0"/>
              <a:t>Feed</a:t>
            </a:r>
            <a:r>
              <a:rPr lang="en-US" dirty="0"/>
              <a:t> the requirements to your coding </a:t>
            </a:r>
            <a:r>
              <a:rPr lang="en-US" b="1" dirty="0"/>
              <a:t>agent</a:t>
            </a:r>
          </a:p>
          <a:p>
            <a:endParaRPr lang="en-US" dirty="0"/>
          </a:p>
          <a:p>
            <a:r>
              <a:rPr lang="en-US" dirty="0"/>
              <a:t>Step 3: The Agent </a:t>
            </a:r>
            <a:r>
              <a:rPr lang="en-US" b="1" dirty="0"/>
              <a:t>Scaffolds</a:t>
            </a:r>
            <a:r>
              <a:rPr lang="en-US" dirty="0"/>
              <a:t> the App in Android Studio.</a:t>
            </a:r>
          </a:p>
          <a:p>
            <a:endParaRPr lang="en-US" dirty="0"/>
          </a:p>
          <a:p>
            <a:r>
              <a:rPr lang="en-US" dirty="0"/>
              <a:t>Step 4: </a:t>
            </a:r>
            <a:r>
              <a:rPr lang="en-US" b="1" dirty="0"/>
              <a:t>Review and iterate</a:t>
            </a:r>
          </a:p>
          <a:p>
            <a:endParaRPr lang="en-US" b="1" dirty="0"/>
          </a:p>
          <a:p>
            <a:r>
              <a:rPr lang="en-US" b="0" dirty="0"/>
              <a:t>Using this approach, I have been able to build working app in just a couple hours.</a:t>
            </a:r>
          </a:p>
          <a:p>
            <a:endParaRPr lang="en-US" b="0" dirty="0"/>
          </a:p>
          <a:p>
            <a:r>
              <a:rPr lang="en-US" b="0" dirty="0"/>
              <a:t>After you have 1 app working, you can use that as a </a:t>
            </a:r>
            <a:r>
              <a:rPr lang="en-US" b="1" dirty="0"/>
              <a:t>base</a:t>
            </a:r>
            <a:r>
              <a:rPr lang="en-US" b="0" dirty="0"/>
              <a:t> for future apps.</a:t>
            </a:r>
          </a:p>
          <a:p>
            <a:endParaRPr lang="en-US" b="0" dirty="0"/>
          </a:p>
          <a:p>
            <a:r>
              <a:rPr lang="en-US" b="0" dirty="0"/>
              <a:t>Now let’s take a look at the Markdown file.</a:t>
            </a:r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D7DC-6EF4-F790-4FF7-4B1551ED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D9277-29D2-6646-ED28-8FF07D2E8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40952-920C-8D42-1DF8-831F55D88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</a:t>
            </a:r>
            <a:r>
              <a:rPr lang="en-US" b="1" dirty="0"/>
              <a:t>snapshot</a:t>
            </a:r>
            <a:r>
              <a:rPr lang="en-US" dirty="0"/>
              <a:t> of the GVP app requirements markdown template file.</a:t>
            </a:r>
          </a:p>
          <a:p>
            <a:endParaRPr lang="en-US" dirty="0"/>
          </a:p>
          <a:p>
            <a:r>
              <a:rPr lang="en-US" dirty="0"/>
              <a:t>It’s a Markdown file with the .md extension.</a:t>
            </a:r>
          </a:p>
          <a:p>
            <a:endParaRPr lang="en-US" dirty="0"/>
          </a:p>
          <a:p>
            <a:r>
              <a:rPr lang="en-US" dirty="0"/>
              <a:t>Let’s take a closer look at the most </a:t>
            </a:r>
            <a:r>
              <a:rPr lang="en-US" b="1" dirty="0"/>
              <a:t>important</a:t>
            </a:r>
            <a:r>
              <a:rPr lang="en-US" dirty="0"/>
              <a:t> parts.</a:t>
            </a:r>
          </a:p>
          <a:p>
            <a:endParaRPr lang="en-US" dirty="0"/>
          </a:p>
          <a:p>
            <a:r>
              <a:rPr lang="en-US" dirty="0"/>
              <a:t>[Exit to the Github desktop]</a:t>
            </a:r>
          </a:p>
          <a:p>
            <a:endParaRPr lang="en-US" dirty="0"/>
          </a:p>
          <a:p>
            <a:r>
              <a:rPr lang="en-US" dirty="0"/>
              <a:t>Let me </a:t>
            </a:r>
            <a:r>
              <a:rPr lang="en-US" b="1" dirty="0"/>
              <a:t>open the markdown file</a:t>
            </a:r>
            <a:r>
              <a:rPr lang="en-US" dirty="0"/>
              <a:t>, and I will point out some of the important sections.</a:t>
            </a:r>
          </a:p>
          <a:p>
            <a:endParaRPr lang="en-US" dirty="0"/>
          </a:p>
          <a:p>
            <a:r>
              <a:rPr lang="en-US" dirty="0"/>
              <a:t>You can see in this GVP version, I have </a:t>
            </a:r>
            <a:r>
              <a:rPr lang="en-US" b="1" dirty="0"/>
              <a:t>ALL</a:t>
            </a:r>
            <a:r>
              <a:rPr lang="en-US" dirty="0"/>
              <a:t> of the sections are completed. </a:t>
            </a:r>
          </a:p>
          <a:p>
            <a:endParaRPr lang="en-US" dirty="0"/>
          </a:p>
          <a:p>
            <a:r>
              <a:rPr lang="en-US" dirty="0"/>
              <a:t>You don’t need to complete all of the sections to be able to get your coding agent to SCAFFOLD your new voice app.</a:t>
            </a:r>
          </a:p>
          <a:p>
            <a:endParaRPr lang="en-US" dirty="0"/>
          </a:p>
          <a:p>
            <a:r>
              <a:rPr lang="en-US" dirty="0"/>
              <a:t>If you have a basic idea of what your want your voice app to do, you can just complete those </a:t>
            </a:r>
            <a:r>
              <a:rPr lang="en-US" b="1" dirty="0"/>
              <a:t>partial sections</a:t>
            </a:r>
            <a:r>
              <a:rPr lang="en-US" dirty="0"/>
              <a:t>, and your coding agent will be able to scaffold your app in Android Studio.</a:t>
            </a:r>
          </a:p>
          <a:p>
            <a:endParaRPr lang="en-US" dirty="0"/>
          </a:p>
          <a:p>
            <a:r>
              <a:rPr lang="en-US" dirty="0"/>
              <a:t>When you have an idea for a new app, try to complete as much as you can.</a:t>
            </a:r>
          </a:p>
          <a:p>
            <a:endParaRPr lang="en-US" dirty="0"/>
          </a:p>
          <a:p>
            <a:r>
              <a:rPr lang="en-US" dirty="0"/>
              <a:t>I recommend completing the App Identity, Project, and Architecture sections at the top.</a:t>
            </a:r>
          </a:p>
          <a:p>
            <a:endParaRPr lang="en-US" dirty="0"/>
          </a:p>
          <a:p>
            <a:r>
              <a:rPr lang="en-US" dirty="0"/>
              <a:t>Notice for the </a:t>
            </a:r>
            <a:r>
              <a:rPr lang="en-US" b="1" dirty="0"/>
              <a:t>Architecture</a:t>
            </a:r>
            <a:r>
              <a:rPr lang="en-US" dirty="0"/>
              <a:t>: I always use MVVM, which stands for Model View, View Model.</a:t>
            </a:r>
          </a:p>
          <a:p>
            <a:endParaRPr lang="en-US" dirty="0"/>
          </a:p>
          <a:p>
            <a:r>
              <a:rPr lang="en-US" dirty="0"/>
              <a:t>It is also very helpful if you can complete the </a:t>
            </a:r>
            <a:r>
              <a:rPr lang="en-US" b="1" dirty="0"/>
              <a:t>Voice Pipeline</a:t>
            </a:r>
            <a:r>
              <a:rPr lang="en-US" dirty="0"/>
              <a:t> sections, which includes the STT, the LLM, and the TTS.</a:t>
            </a:r>
          </a:p>
          <a:p>
            <a:endParaRPr lang="en-US" dirty="0"/>
          </a:p>
          <a:p>
            <a:r>
              <a:rPr lang="en-US" dirty="0"/>
              <a:t>We will discuss those next in … [Next Slide] …  Voice Fundamentals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5AA9D-12A0-D300-5D29-AE35FA9110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3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41EB-EBF5-09C9-0E39-F49916B7D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8FD7E-EAF3-7C5F-09E8-AE1A31768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23734-C11D-4508-4984-95F239863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AD5B3-7B6E-463C-4887-A501D4D14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49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define what we mean by </a:t>
            </a:r>
            <a:r>
              <a:rPr lang="en-US" b="1" dirty="0"/>
              <a:t>REALTIME STREAMING FULL DUPLEX VOICE</a:t>
            </a:r>
          </a:p>
          <a:p>
            <a:endParaRPr lang="en-US" b="1" dirty="0"/>
          </a:p>
          <a:p>
            <a:r>
              <a:rPr lang="en-US" b="0" dirty="0"/>
              <a:t>Everyone can remember the </a:t>
            </a:r>
            <a:r>
              <a:rPr lang="en-US" b="1" dirty="0"/>
              <a:t>“Walkie Talkie” </a:t>
            </a:r>
            <a:r>
              <a:rPr lang="en-US" b="0" dirty="0"/>
              <a:t>– which enabled half duplex radio communications. </a:t>
            </a:r>
          </a:p>
          <a:p>
            <a:endParaRPr lang="en-US" b="0" dirty="0"/>
          </a:p>
          <a:p>
            <a:r>
              <a:rPr lang="en-US" b="0" dirty="0"/>
              <a:t>“Walkie Talkie” is a PTT system, You had to </a:t>
            </a:r>
            <a:r>
              <a:rPr lang="en-US" b="1" dirty="0"/>
              <a:t>“Push-to-Talk”.</a:t>
            </a:r>
          </a:p>
          <a:p>
            <a:endParaRPr lang="en-US" b="1" dirty="0"/>
          </a:p>
          <a:p>
            <a:r>
              <a:rPr lang="en-US" b="0" dirty="0"/>
              <a:t>When we build modern voice systems, we are shifting from TURN-BASED voice to REAL-TIME voice.</a:t>
            </a:r>
          </a:p>
          <a:p>
            <a:endParaRPr lang="en-US" b="0" dirty="0"/>
          </a:p>
          <a:p>
            <a:r>
              <a:rPr lang="en-US" b="0" dirty="0"/>
              <a:t>We want to build systems the </a:t>
            </a:r>
            <a:r>
              <a:rPr lang="en-US" b="1" dirty="0"/>
              <a:t>“FEEL LIKE A REAL CONVERSATION”</a:t>
            </a:r>
          </a:p>
          <a:p>
            <a:endParaRPr lang="en-US" b="1" dirty="0"/>
          </a:p>
          <a:p>
            <a:r>
              <a:rPr lang="en-US" b="0" dirty="0"/>
              <a:t>To</a:t>
            </a:r>
            <a:r>
              <a:rPr lang="en-US" b="1" dirty="0"/>
              <a:t> STREAM </a:t>
            </a:r>
            <a:r>
              <a:rPr lang="en-US" b="0" dirty="0"/>
              <a:t>audio</a:t>
            </a:r>
            <a:r>
              <a:rPr lang="en-US" b="1" dirty="0"/>
              <a:t>, </a:t>
            </a:r>
            <a:r>
              <a:rPr lang="en-US" b="0" dirty="0"/>
              <a:t>we need some special </a:t>
            </a:r>
            <a:r>
              <a:rPr lang="en-US" b="1" dirty="0"/>
              <a:t>protocols</a:t>
            </a:r>
            <a:r>
              <a:rPr lang="en-US" b="0" dirty="0"/>
              <a:t> and </a:t>
            </a:r>
            <a:r>
              <a:rPr lang="en-US" b="1" dirty="0"/>
              <a:t>concepts</a:t>
            </a:r>
            <a:r>
              <a:rPr lang="en-US" b="0" dirty="0"/>
              <a:t>:</a:t>
            </a:r>
          </a:p>
          <a:p>
            <a:endParaRPr lang="en-US" b="0" dirty="0"/>
          </a:p>
          <a:p>
            <a:r>
              <a:rPr lang="en-US" b="1" dirty="0"/>
              <a:t>WebSocket and WebRTC </a:t>
            </a:r>
            <a:r>
              <a:rPr lang="en-US" b="0" dirty="0"/>
              <a:t>are streaming protocols we can use for voice systems.</a:t>
            </a:r>
          </a:p>
          <a:p>
            <a:endParaRPr lang="en-US" b="0" dirty="0"/>
          </a:p>
          <a:p>
            <a:r>
              <a:rPr lang="en-US" b="0" dirty="0"/>
              <a:t>These protocols pass packets over a network at high speed, we can refer to these as </a:t>
            </a:r>
            <a:r>
              <a:rPr lang="en-US" b="1" dirty="0"/>
              <a:t>Delta</a:t>
            </a:r>
            <a:r>
              <a:rPr lang="en-US" b="0" dirty="0"/>
              <a:t>, and </a:t>
            </a:r>
            <a:r>
              <a:rPr lang="en-US" b="1" dirty="0"/>
              <a:t>Final packets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You will see, the Cliff app uses </a:t>
            </a:r>
            <a:r>
              <a:rPr lang="en-US" b="1" dirty="0" err="1"/>
              <a:t>WebSockets</a:t>
            </a:r>
            <a:r>
              <a:rPr lang="en-US" b="0" dirty="0"/>
              <a:t>, The Pica app uses </a:t>
            </a:r>
            <a:r>
              <a:rPr lang="en-US" b="1" dirty="0"/>
              <a:t>WebRTC</a:t>
            </a:r>
            <a:r>
              <a:rPr lang="en-US" b="0" dirty="0"/>
              <a:t>. The </a:t>
            </a:r>
            <a:r>
              <a:rPr lang="en-US" b="1" dirty="0"/>
              <a:t>GVP</a:t>
            </a:r>
            <a:r>
              <a:rPr lang="en-US" b="0" dirty="0"/>
              <a:t> app is LOCAL and lives complete on device.</a:t>
            </a:r>
          </a:p>
          <a:p>
            <a:endParaRPr lang="en-US" b="0" dirty="0"/>
          </a:p>
          <a:p>
            <a:r>
              <a:rPr lang="en-US" b="1" dirty="0"/>
              <a:t>Turn Detection </a:t>
            </a:r>
            <a:r>
              <a:rPr lang="en-US" b="0" dirty="0"/>
              <a:t>is an important part of the voice system, it determines when we send prompts to the LLM for processing.</a:t>
            </a:r>
          </a:p>
          <a:p>
            <a:endParaRPr lang="en-US" b="0" dirty="0"/>
          </a:p>
          <a:p>
            <a:r>
              <a:rPr lang="en-US" b="1" dirty="0"/>
              <a:t>AEC</a:t>
            </a:r>
            <a:r>
              <a:rPr lang="en-US" b="0" dirty="0"/>
              <a:t> is how we prevent the speaker output from leaking back into the microphone. </a:t>
            </a:r>
            <a:br>
              <a:rPr lang="en-US" b="0" dirty="0"/>
            </a:br>
            <a:r>
              <a:rPr lang="en-US" b="0" dirty="0"/>
              <a:t>In our apps it is implemented by the Android device, and the Pipecat protocol, we’ll talk more about that later.</a:t>
            </a:r>
          </a:p>
          <a:p>
            <a:endParaRPr lang="en-US" b="0" dirty="0"/>
          </a:p>
          <a:p>
            <a:r>
              <a:rPr lang="en-US" b="1" dirty="0"/>
              <a:t>Barge-in</a:t>
            </a:r>
            <a:r>
              <a:rPr lang="en-US" b="0" dirty="0"/>
              <a:t> is how we listen for </a:t>
            </a:r>
            <a:r>
              <a:rPr lang="en-US" b="1" dirty="0"/>
              <a:t>interruptions</a:t>
            </a:r>
            <a:r>
              <a:rPr lang="en-US" b="0" dirty="0"/>
              <a:t> and </a:t>
            </a:r>
            <a:r>
              <a:rPr lang="en-US" b="1" dirty="0"/>
              <a:t>take</a:t>
            </a:r>
            <a:r>
              <a:rPr lang="en-US" b="0" dirty="0"/>
              <a:t> </a:t>
            </a:r>
            <a:r>
              <a:rPr lang="en-US" b="1" dirty="0"/>
              <a:t>action</a:t>
            </a:r>
            <a:r>
              <a:rPr lang="en-US" b="0" dirty="0"/>
              <a:t> to </a:t>
            </a:r>
            <a:r>
              <a:rPr lang="en-US" b="1" dirty="0"/>
              <a:t>stop</a:t>
            </a:r>
            <a:r>
              <a:rPr lang="en-US" b="0" dirty="0"/>
              <a:t> any TTS output from playing. This contributes to the “Feels like a real conversation”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31830-C267-37BA-DB74-CE6944B9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F10BD-4626-A14E-0EA0-B72791D7A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0A56E-D38A-E5DD-11E6-95C10A4CB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baseline="0" dirty="0"/>
              <a:t>This is the </a:t>
            </a:r>
            <a:r>
              <a:rPr lang="en-US" b="1" dirty="0"/>
              <a:t>Conversational</a:t>
            </a:r>
            <a:r>
              <a:rPr lang="en-US" b="1" baseline="0" dirty="0"/>
              <a:t> AI Architecture</a:t>
            </a:r>
            <a:r>
              <a:rPr lang="en-US" b="0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Each of the 3 apps I will present follow this basic Architecture. </a:t>
            </a:r>
          </a:p>
          <a:p>
            <a:endParaRPr lang="en-US" baseline="0" dirty="0"/>
          </a:p>
          <a:p>
            <a:r>
              <a:rPr lang="en-US" baseline="0" dirty="0"/>
              <a:t>We call this approach a “Pipeline” architecture.</a:t>
            </a:r>
          </a:p>
          <a:p>
            <a:endParaRPr lang="en-US" baseline="0" dirty="0"/>
          </a:p>
          <a:p>
            <a:r>
              <a:rPr lang="en-US" baseline="0" dirty="0"/>
              <a:t>In the diagram, the AI </a:t>
            </a:r>
            <a:r>
              <a:rPr lang="en-US" b="1" baseline="0" dirty="0"/>
              <a:t>MODELS</a:t>
            </a:r>
            <a:r>
              <a:rPr lang="en-US" baseline="0" dirty="0"/>
              <a:t> are shown in </a:t>
            </a:r>
            <a:r>
              <a:rPr lang="en-US" b="1" baseline="0" dirty="0"/>
              <a:t>GREEN</a:t>
            </a:r>
            <a:r>
              <a:rPr lang="en-US" baseline="0" dirty="0"/>
              <a:t> boxes, and the </a:t>
            </a:r>
            <a:r>
              <a:rPr lang="en-US" b="1" baseline="0" dirty="0"/>
              <a:t>AGENTIC FRAMEWORK </a:t>
            </a:r>
            <a:r>
              <a:rPr lang="en-US" baseline="0" dirty="0"/>
              <a:t>is shown in </a:t>
            </a:r>
            <a:r>
              <a:rPr lang="en-US" b="1" baseline="0" dirty="0"/>
              <a:t>BLUE</a:t>
            </a:r>
            <a:r>
              <a:rPr lang="en-US" baseline="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Starting top left, VOICE IN, is captured by the microphone on the Android device by the </a:t>
            </a:r>
            <a:r>
              <a:rPr lang="en-US" b="1" baseline="0" dirty="0" err="1"/>
              <a:t>AudioRecord</a:t>
            </a:r>
            <a:r>
              <a:rPr lang="en-US" b="1" baseline="0" dirty="0"/>
              <a:t> </a:t>
            </a:r>
            <a:r>
              <a:rPr lang="en-US" baseline="0" dirty="0"/>
              <a:t>class, and is sent to the </a:t>
            </a:r>
            <a:r>
              <a:rPr lang="en-US" b="1" baseline="0" dirty="0"/>
              <a:t>Speech-to-Text model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The </a:t>
            </a:r>
            <a:r>
              <a:rPr lang="en-US" b="1" baseline="0" dirty="0"/>
              <a:t>STT model </a:t>
            </a:r>
            <a:r>
              <a:rPr lang="en-US" baseline="0" dirty="0"/>
              <a:t>converts the audio to text, which is then sent to the </a:t>
            </a:r>
            <a:r>
              <a:rPr lang="en-US" b="1" baseline="0" dirty="0"/>
              <a:t>LLM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When we communicate to LLM;s we submit</a:t>
            </a:r>
            <a:r>
              <a:rPr lang="en-US" b="1" baseline="0" dirty="0"/>
              <a:t> PROMPTS</a:t>
            </a:r>
            <a:r>
              <a:rPr lang="en-US" baseline="0" dirty="0"/>
              <a:t>, and we receive back </a:t>
            </a:r>
            <a:r>
              <a:rPr lang="en-US" b="1" baseline="0" dirty="0"/>
              <a:t>COMPLETIONS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The COMPLETION text is sent to the </a:t>
            </a:r>
            <a:r>
              <a:rPr lang="en-US" b="1" baseline="0" dirty="0"/>
              <a:t>TTS model </a:t>
            </a:r>
            <a:r>
              <a:rPr lang="en-US" baseline="0" dirty="0"/>
              <a:t>which returns audio we can play on the Android device using the </a:t>
            </a:r>
            <a:r>
              <a:rPr lang="en-US" b="1" baseline="0" dirty="0" err="1"/>
              <a:t>AudioTrack</a:t>
            </a:r>
            <a:r>
              <a:rPr lang="en-US" baseline="0" dirty="0"/>
              <a:t> class.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The TEXT and AUDIO flow through this system in the form of </a:t>
            </a:r>
            <a:r>
              <a:rPr lang="en-US" b="1" baseline="0" dirty="0"/>
              <a:t>Delta Packets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="1" baseline="0" dirty="0"/>
              <a:t>Key Concerns </a:t>
            </a:r>
            <a:r>
              <a:rPr lang="en-US" baseline="0" dirty="0"/>
              <a:t>are highlighted below of the 3 models.:</a:t>
            </a:r>
          </a:p>
          <a:p>
            <a:endParaRPr lang="en-US" baseline="0" dirty="0"/>
          </a:p>
          <a:p>
            <a:r>
              <a:rPr lang="en-US" baseline="0" dirty="0"/>
              <a:t>For STT, we are mostly concerned about </a:t>
            </a:r>
            <a:r>
              <a:rPr lang="en-US" b="1" baseline="0" dirty="0"/>
              <a:t>Latency</a:t>
            </a:r>
            <a:r>
              <a:rPr lang="en-US" baseline="0" dirty="0"/>
              <a:t>, </a:t>
            </a:r>
            <a:r>
              <a:rPr lang="en-US" b="1" baseline="0" dirty="0"/>
              <a:t>Accuracy</a:t>
            </a:r>
            <a:r>
              <a:rPr lang="en-US" baseline="0" dirty="0"/>
              <a:t>, and </a:t>
            </a:r>
            <a:r>
              <a:rPr lang="en-US" b="1" baseline="0" dirty="0"/>
              <a:t>Turn Detection</a:t>
            </a:r>
          </a:p>
          <a:p>
            <a:endParaRPr lang="en-US" baseline="0" dirty="0"/>
          </a:p>
          <a:p>
            <a:r>
              <a:rPr lang="en-US" baseline="0" dirty="0"/>
              <a:t>For LLM, we are mostly concerned about </a:t>
            </a:r>
            <a:r>
              <a:rPr lang="en-US" b="1" baseline="0" dirty="0"/>
              <a:t>Latency</a:t>
            </a:r>
            <a:r>
              <a:rPr lang="en-US" baseline="0" dirty="0"/>
              <a:t> and </a:t>
            </a:r>
            <a:r>
              <a:rPr lang="en-US" b="1" baseline="0" dirty="0"/>
              <a:t>Capability</a:t>
            </a:r>
          </a:p>
          <a:p>
            <a:endParaRPr lang="en-US" baseline="0" dirty="0"/>
          </a:p>
          <a:p>
            <a:r>
              <a:rPr lang="en-US" baseline="0" dirty="0"/>
              <a:t>For TTS, we are mostly concerned with </a:t>
            </a:r>
            <a:r>
              <a:rPr lang="en-US" b="1" baseline="0" dirty="0"/>
              <a:t>Voice Selection </a:t>
            </a:r>
            <a:r>
              <a:rPr lang="en-US" baseline="0" dirty="0"/>
              <a:t>to match our user application.</a:t>
            </a:r>
          </a:p>
          <a:p>
            <a:endParaRPr lang="en-US" baseline="0" dirty="0"/>
          </a:p>
          <a:p>
            <a:r>
              <a:rPr lang="en-US" baseline="0" dirty="0"/>
              <a:t>You can see that </a:t>
            </a:r>
            <a:r>
              <a:rPr lang="en-US" b="1" baseline="0" dirty="0"/>
              <a:t>Latency</a:t>
            </a:r>
            <a:r>
              <a:rPr lang="en-US" baseline="0" dirty="0"/>
              <a:t> is a COMMON concern.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820F4-7874-761F-A78E-217D6B416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221F-412B-F1FC-BE43-1A076C747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752AA-4FA3-2D0D-A58E-DA5BA1E64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70426-0D66-3CB8-41B2-E9916ED59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Let’s talk about Latency.</a:t>
            </a:r>
          </a:p>
          <a:p>
            <a:endParaRPr lang="en-US" dirty="0"/>
          </a:p>
          <a:p>
            <a:r>
              <a:rPr lang="en-US" dirty="0"/>
              <a:t>Latency is the single most important benchmark for voice systems.</a:t>
            </a:r>
          </a:p>
          <a:p>
            <a:endParaRPr lang="en-US" dirty="0"/>
          </a:p>
          <a:p>
            <a:r>
              <a:rPr lang="en-US" dirty="0"/>
              <a:t>It can </a:t>
            </a:r>
            <a:r>
              <a:rPr lang="en-US" b="1" dirty="0"/>
              <a:t>“make or break” </a:t>
            </a:r>
            <a:r>
              <a:rPr lang="en-US" dirty="0"/>
              <a:t>our voice app.</a:t>
            </a:r>
          </a:p>
          <a:p>
            <a:endParaRPr lang="en-US" dirty="0"/>
          </a:p>
          <a:p>
            <a:r>
              <a:rPr lang="en-US" dirty="0"/>
              <a:t>On the right side of this slide is a typical expected </a:t>
            </a:r>
            <a:r>
              <a:rPr lang="en-US" b="1" dirty="0"/>
              <a:t>latency profile </a:t>
            </a:r>
            <a:r>
              <a:rPr lang="en-US" dirty="0"/>
              <a:t>for a complete “</a:t>
            </a:r>
            <a:r>
              <a:rPr lang="en-US" b="1" dirty="0"/>
              <a:t>turn</a:t>
            </a:r>
            <a:r>
              <a:rPr lang="en-US" dirty="0"/>
              <a:t>” of a voice app.</a:t>
            </a:r>
          </a:p>
          <a:p>
            <a:endParaRPr lang="en-US" dirty="0"/>
          </a:p>
          <a:p>
            <a:r>
              <a:rPr lang="en-US" dirty="0"/>
              <a:t>You can see that the 3 largest </a:t>
            </a:r>
            <a:r>
              <a:rPr lang="en-US" b="1" dirty="0"/>
              <a:t>contributions</a:t>
            </a:r>
            <a:r>
              <a:rPr lang="en-US" dirty="0"/>
              <a:t> are </a:t>
            </a:r>
            <a:r>
              <a:rPr lang="en-US" b="1" dirty="0"/>
              <a:t>the 3 models</a:t>
            </a:r>
            <a:r>
              <a:rPr lang="en-US" dirty="0"/>
              <a:t>, STT, LLM, and TTS.</a:t>
            </a:r>
          </a:p>
          <a:p>
            <a:endParaRPr lang="en-US" dirty="0"/>
          </a:p>
          <a:p>
            <a:r>
              <a:rPr lang="en-US" dirty="0"/>
              <a:t>We will define the concept of </a:t>
            </a:r>
            <a:r>
              <a:rPr lang="en-US" b="1" dirty="0"/>
              <a:t>TTFT</a:t>
            </a:r>
            <a:r>
              <a:rPr lang="en-US" dirty="0"/>
              <a:t>, or </a:t>
            </a:r>
            <a:r>
              <a:rPr lang="en-US" b="1" dirty="0"/>
              <a:t>Time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b="1" dirty="0"/>
              <a:t>First</a:t>
            </a:r>
            <a:r>
              <a:rPr lang="en-US" dirty="0"/>
              <a:t> </a:t>
            </a:r>
            <a:r>
              <a:rPr lang="en-US" b="1" dirty="0"/>
              <a:t>Token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TTFT is the </a:t>
            </a:r>
            <a:r>
              <a:rPr lang="en-US" b="1" dirty="0"/>
              <a:t>measured</a:t>
            </a:r>
            <a:r>
              <a:rPr lang="en-US" dirty="0"/>
              <a:t> </a:t>
            </a:r>
            <a:r>
              <a:rPr lang="en-US" b="1" dirty="0"/>
              <a:t>time</a:t>
            </a:r>
            <a:r>
              <a:rPr lang="en-US" dirty="0"/>
              <a:t> between when the STT detects a turn, Sending token to the LLM, and when the LLM sends back its first completion token.</a:t>
            </a:r>
          </a:p>
          <a:p>
            <a:endParaRPr lang="en-US" dirty="0"/>
          </a:p>
          <a:p>
            <a:r>
              <a:rPr lang="en-US" dirty="0"/>
              <a:t>It is the 2 combined Blue Colored cells in the chart.</a:t>
            </a:r>
          </a:p>
          <a:p>
            <a:endParaRPr lang="en-US" dirty="0"/>
          </a:p>
          <a:p>
            <a:r>
              <a:rPr lang="en-US" dirty="0"/>
              <a:t>The goal is a TTFT </a:t>
            </a:r>
            <a:r>
              <a:rPr lang="en-US" b="1" dirty="0"/>
              <a:t>target</a:t>
            </a:r>
            <a:r>
              <a:rPr lang="en-US" dirty="0"/>
              <a:t> of </a:t>
            </a:r>
            <a:r>
              <a:rPr lang="en-US" b="1" dirty="0"/>
              <a:t>1,000</a:t>
            </a:r>
            <a:r>
              <a:rPr lang="en-US" dirty="0"/>
              <a:t> </a:t>
            </a:r>
            <a:r>
              <a:rPr lang="en-US" b="1" dirty="0"/>
              <a:t>mill-sec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Each of the 3 Apps I am presenting has a </a:t>
            </a:r>
            <a:r>
              <a:rPr lang="en-US" b="1" dirty="0"/>
              <a:t>latency</a:t>
            </a:r>
            <a:r>
              <a:rPr lang="en-US" dirty="0"/>
              <a:t> </a:t>
            </a:r>
            <a:r>
              <a:rPr lang="en-US" b="1" dirty="0"/>
              <a:t>class</a:t>
            </a:r>
            <a:r>
              <a:rPr lang="en-US" dirty="0"/>
              <a:t> to measure the TTFT.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let’s take a closer look at the role of the </a:t>
            </a:r>
            <a:r>
              <a:rPr lang="en-US" b="1" dirty="0"/>
              <a:t>LLM</a:t>
            </a:r>
            <a:r>
              <a:rPr lang="en-US" dirty="0"/>
              <a:t> in </a:t>
            </a:r>
            <a:r>
              <a:rPr lang="en-US" b="1" dirty="0"/>
              <a:t>Latency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F7E80-2712-6D62-3BCB-8ED3837DE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40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LLM</a:t>
            </a:r>
            <a:r>
              <a:rPr lang="en-US" dirty="0"/>
              <a:t> is the </a:t>
            </a:r>
            <a:r>
              <a:rPr lang="en-US" b="1" dirty="0"/>
              <a:t>Brain</a:t>
            </a:r>
            <a:r>
              <a:rPr lang="en-US" dirty="0"/>
              <a:t> of our Voce AI System.</a:t>
            </a:r>
          </a:p>
          <a:p>
            <a:endParaRPr lang="en-US" dirty="0"/>
          </a:p>
          <a:p>
            <a:r>
              <a:rPr lang="en-US" dirty="0"/>
              <a:t>There are many popular models we can choose from.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 I mentioned before, the most </a:t>
            </a:r>
            <a:r>
              <a:rPr lang="en-US" b="1" dirty="0"/>
              <a:t>important factors </a:t>
            </a:r>
            <a:r>
              <a:rPr lang="en-US" dirty="0"/>
              <a:t>when choosing your LLM are </a:t>
            </a:r>
            <a:r>
              <a:rPr lang="en-US" b="1" dirty="0"/>
              <a:t>Latency</a:t>
            </a:r>
            <a:r>
              <a:rPr lang="en-US" dirty="0"/>
              <a:t> and </a:t>
            </a:r>
            <a:r>
              <a:rPr lang="en-US" b="1" dirty="0"/>
              <a:t>Capability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Of course, there is a third factor we should consider, </a:t>
            </a:r>
            <a:r>
              <a:rPr lang="en-US" b="1" dirty="0"/>
              <a:t>Cost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chart on the right shows some of the </a:t>
            </a:r>
            <a:r>
              <a:rPr lang="en-US" b="1" dirty="0"/>
              <a:t>popular models </a:t>
            </a:r>
            <a:r>
              <a:rPr lang="en-US" dirty="0"/>
              <a:t>and their latency and cost estimates.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Keep in mind, the costs shown here are only for the </a:t>
            </a:r>
            <a:r>
              <a:rPr lang="en-US" b="1" dirty="0"/>
              <a:t>LLM</a:t>
            </a:r>
            <a:r>
              <a:rPr lang="en-US" dirty="0"/>
              <a:t>, you also should consider the cost for your STT and TTS models, which are </a:t>
            </a:r>
            <a:r>
              <a:rPr lang="en-US" b="1" dirty="0"/>
              <a:t>generally lower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When choosing the LLM Model, It’s always a </a:t>
            </a:r>
            <a:r>
              <a:rPr lang="en-US" b="1" dirty="0"/>
              <a:t>TRADEOFF: </a:t>
            </a:r>
            <a:r>
              <a:rPr lang="en-US" dirty="0"/>
              <a:t>A more powerful model generally means higher cost and slower latency.</a:t>
            </a:r>
          </a:p>
          <a:p>
            <a:endParaRPr lang="en-US" dirty="0"/>
          </a:p>
          <a:p>
            <a:r>
              <a:rPr lang="en-US" dirty="0"/>
              <a:t>Compare the </a:t>
            </a:r>
            <a:r>
              <a:rPr lang="en-US" b="1" dirty="0"/>
              <a:t>Claude 4.5 </a:t>
            </a:r>
            <a:r>
              <a:rPr lang="en-US" dirty="0"/>
              <a:t>and </a:t>
            </a:r>
            <a:r>
              <a:rPr lang="en-US" b="1" dirty="0"/>
              <a:t>Claude 4.6 </a:t>
            </a:r>
            <a:r>
              <a:rPr lang="en-US" dirty="0"/>
              <a:t>models, 4.5 Haiku is 1/3 the cost and has a faster TTFT, but of course, it’s </a:t>
            </a:r>
            <a:r>
              <a:rPr lang="en-US" b="1" dirty="0"/>
              <a:t>not as powerful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When we implement “</a:t>
            </a:r>
            <a:r>
              <a:rPr lang="en-US" b="1" dirty="0"/>
              <a:t>Homer</a:t>
            </a:r>
            <a:r>
              <a:rPr lang="en-US" dirty="0"/>
              <a:t>” the Baseball agent, I will choose </a:t>
            </a:r>
            <a:r>
              <a:rPr lang="en-US" b="1" dirty="0"/>
              <a:t>GPT-4.1</a:t>
            </a:r>
            <a:r>
              <a:rPr lang="en-US" dirty="0"/>
              <a:t> because of its power.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let’s prepare for the 3 app with a summary.</a:t>
            </a:r>
          </a:p>
          <a:p>
            <a:endParaRPr lang="en-US" dirty="0"/>
          </a:p>
          <a:p>
            <a:r>
              <a:rPr lang="en-US" dirty="0"/>
              <a:t>This is a review of the key </a:t>
            </a:r>
            <a:r>
              <a:rPr lang="en-US" b="1" dirty="0"/>
              <a:t>Architecture</a:t>
            </a:r>
            <a:r>
              <a:rPr lang="en-US" dirty="0"/>
              <a:t> </a:t>
            </a:r>
            <a:r>
              <a:rPr lang="en-US" b="1" dirty="0"/>
              <a:t>Trade-offs</a:t>
            </a:r>
            <a:r>
              <a:rPr lang="en-US" dirty="0"/>
              <a:t> for each app..</a:t>
            </a:r>
          </a:p>
          <a:p>
            <a:endParaRPr lang="en-US" dirty="0"/>
          </a:p>
          <a:p>
            <a:r>
              <a:rPr lang="en-US" b="1" dirty="0"/>
              <a:t>KEY POINT: </a:t>
            </a:r>
            <a:r>
              <a:rPr lang="en-US" dirty="0"/>
              <a:t>The </a:t>
            </a:r>
            <a:r>
              <a:rPr lang="en-US" b="1" dirty="0"/>
              <a:t>RIGHT</a:t>
            </a:r>
            <a:r>
              <a:rPr lang="en-US" dirty="0"/>
              <a:t> </a:t>
            </a:r>
            <a:r>
              <a:rPr lang="en-US" b="1" dirty="0"/>
              <a:t>SOLUTION</a:t>
            </a:r>
            <a:r>
              <a:rPr lang="en-US" dirty="0"/>
              <a:t> depends on YOUR requirements.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use a different Network strategy for each of the 3 apps.</a:t>
            </a:r>
          </a:p>
          <a:p>
            <a:r>
              <a:rPr lang="en-US" dirty="0"/>
              <a:t>GVP has </a:t>
            </a:r>
            <a:r>
              <a:rPr lang="en-US" b="1" dirty="0"/>
              <a:t>No Network</a:t>
            </a:r>
            <a:r>
              <a:rPr lang="en-US" dirty="0"/>
              <a:t>, Cloud uses </a:t>
            </a:r>
            <a:r>
              <a:rPr lang="en-US" b="1" dirty="0" err="1"/>
              <a:t>WebSockets</a:t>
            </a:r>
            <a:r>
              <a:rPr lang="en-US" dirty="0"/>
              <a:t>, and Agent uses </a:t>
            </a:r>
            <a:r>
              <a:rPr lang="en-US" b="1" dirty="0"/>
              <a:t>WebRTC</a:t>
            </a:r>
          </a:p>
          <a:p>
            <a:endParaRPr lang="en-US" dirty="0"/>
          </a:p>
          <a:p>
            <a:r>
              <a:rPr lang="en-US" dirty="0"/>
              <a:t>We will use a </a:t>
            </a:r>
            <a:r>
              <a:rPr lang="en-US" b="1" dirty="0"/>
              <a:t>different</a:t>
            </a:r>
            <a:r>
              <a:rPr lang="en-US" dirty="0"/>
              <a:t> </a:t>
            </a:r>
            <a:r>
              <a:rPr lang="en-US" b="1" dirty="0"/>
              <a:t>vendor’s</a:t>
            </a:r>
            <a:r>
              <a:rPr lang="en-US" dirty="0"/>
              <a:t> </a:t>
            </a:r>
            <a:r>
              <a:rPr lang="en-US" b="1" dirty="0"/>
              <a:t>LLM</a:t>
            </a:r>
            <a:r>
              <a:rPr lang="en-US" dirty="0"/>
              <a:t> for each of the 3 apps.</a:t>
            </a:r>
          </a:p>
          <a:p>
            <a:r>
              <a:rPr lang="en-US" dirty="0"/>
              <a:t>Local uses </a:t>
            </a:r>
            <a:r>
              <a:rPr lang="en-US" b="1" dirty="0"/>
              <a:t>Gemini</a:t>
            </a:r>
            <a:r>
              <a:rPr lang="en-US" dirty="0"/>
              <a:t>, Cloud uses </a:t>
            </a:r>
            <a:r>
              <a:rPr lang="en-US" b="1" dirty="0"/>
              <a:t>Anthropic</a:t>
            </a:r>
            <a:r>
              <a:rPr lang="en-US" dirty="0"/>
              <a:t>, and Agent uses </a:t>
            </a:r>
            <a:r>
              <a:rPr lang="en-US" b="1" dirty="0"/>
              <a:t>X/Grok</a:t>
            </a:r>
          </a:p>
          <a:p>
            <a:endParaRPr lang="en-US" b="1" dirty="0"/>
          </a:p>
          <a:p>
            <a:r>
              <a:rPr lang="en-US" b="0" dirty="0"/>
              <a:t>For the </a:t>
            </a:r>
            <a:r>
              <a:rPr lang="en-US" b="1" dirty="0"/>
              <a:t>output voice </a:t>
            </a:r>
            <a:r>
              <a:rPr lang="en-US" b="0" dirty="0"/>
              <a:t>(TTS) we will use </a:t>
            </a:r>
            <a:r>
              <a:rPr lang="en-US" b="1" dirty="0"/>
              <a:t>Deepgram</a:t>
            </a:r>
            <a:r>
              <a:rPr lang="en-US" b="0" dirty="0"/>
              <a:t> for Cliff, and </a:t>
            </a:r>
            <a:r>
              <a:rPr lang="en-US" b="1" dirty="0" err="1"/>
              <a:t>Cartesia</a:t>
            </a:r>
            <a:r>
              <a:rPr lang="en-US" b="0" dirty="0"/>
              <a:t> for Agent.</a:t>
            </a:r>
          </a:p>
          <a:p>
            <a:endParaRPr lang="en-US" b="1" dirty="0"/>
          </a:p>
          <a:p>
            <a:r>
              <a:rPr lang="en-US" b="0" dirty="0"/>
              <a:t>Notice we can achieve the  </a:t>
            </a:r>
            <a:r>
              <a:rPr lang="en-US" b="1" dirty="0"/>
              <a:t>LOWEST</a:t>
            </a:r>
            <a:r>
              <a:rPr lang="en-US" b="0" dirty="0"/>
              <a:t> </a:t>
            </a:r>
            <a:r>
              <a:rPr lang="en-US" b="1" dirty="0"/>
              <a:t>LATENCY</a:t>
            </a:r>
            <a:r>
              <a:rPr lang="en-US" b="0" dirty="0"/>
              <a:t> on the </a:t>
            </a:r>
            <a:r>
              <a:rPr lang="en-US" b="1" dirty="0"/>
              <a:t>GVP</a:t>
            </a:r>
            <a:r>
              <a:rPr lang="en-US" b="0" dirty="0"/>
              <a:t> Local architecture, but at the expense of LLM Model capability.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And notice that when we use a </a:t>
            </a:r>
            <a:r>
              <a:rPr lang="en-US" b="1" dirty="0"/>
              <a:t>Cloud</a:t>
            </a:r>
            <a:r>
              <a:rPr lang="en-US" b="0" dirty="0"/>
              <a:t> approach for </a:t>
            </a:r>
            <a:r>
              <a:rPr lang="en-US" b="1" dirty="0"/>
              <a:t>Cliff</a:t>
            </a:r>
            <a:r>
              <a:rPr lang="en-US" b="0" dirty="0"/>
              <a:t>, we have to handle </a:t>
            </a:r>
            <a:r>
              <a:rPr lang="en-US" b="1" dirty="0"/>
              <a:t>Token Security.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18612-4F98-A58F-A5B7-F19957DA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8C8E8-FF43-2C1E-F29B-1A927BD3F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8EDE9-8A92-04DC-4BD2-B4BB9F3B1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Introducing the GVP app. It runs the voice pipeline completely on-device.</a:t>
            </a:r>
          </a:p>
          <a:p>
            <a:endParaRPr lang="en-US" dirty="0"/>
          </a:p>
          <a:p>
            <a:r>
              <a:rPr lang="en-US" dirty="0"/>
              <a:t>The GVP app is like a </a:t>
            </a:r>
            <a:r>
              <a:rPr lang="en-US" b="1" dirty="0"/>
              <a:t>Swiss Army knife </a:t>
            </a:r>
            <a:r>
              <a:rPr lang="en-US" dirty="0"/>
              <a:t>for on-device voice pipeline. It has many useful tools you can experiment with on your device.</a:t>
            </a:r>
          </a:p>
          <a:p>
            <a:endParaRPr lang="en-US" dirty="0"/>
          </a:p>
          <a:p>
            <a:r>
              <a:rPr lang="en-US" dirty="0"/>
              <a:t>This app represents my attempt to create </a:t>
            </a:r>
            <a:r>
              <a:rPr lang="en-US" b="1" dirty="0"/>
              <a:t>the highest quality completely on-device voice pipeline possible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 we can see the </a:t>
            </a:r>
            <a:r>
              <a:rPr lang="en-US" b="1" dirty="0"/>
              <a:t>main components </a:t>
            </a:r>
            <a:r>
              <a:rPr lang="en-US" dirty="0"/>
              <a:t>of the pipeline, STT, LLM, and TTS.</a:t>
            </a:r>
          </a:p>
          <a:p>
            <a:endParaRPr lang="en-US" dirty="0"/>
          </a:p>
          <a:p>
            <a:r>
              <a:rPr lang="en-US" dirty="0"/>
              <a:t>The STT has 2 options, </a:t>
            </a:r>
            <a:r>
              <a:rPr lang="en-US" b="1" dirty="0" err="1"/>
              <a:t>MLKit</a:t>
            </a:r>
            <a:r>
              <a:rPr lang="en-US" dirty="0"/>
              <a:t>  which is experimental and only on specific devices, and </a:t>
            </a:r>
            <a:r>
              <a:rPr lang="en-US" b="1" dirty="0"/>
              <a:t>Sherpa</a:t>
            </a:r>
            <a:r>
              <a:rPr lang="en-US" dirty="0"/>
              <a:t> which can run on most devices.</a:t>
            </a:r>
          </a:p>
          <a:p>
            <a:endParaRPr lang="en-US" dirty="0"/>
          </a:p>
          <a:p>
            <a:r>
              <a:rPr lang="en-US" dirty="0"/>
              <a:t>The LLM has 2 options depending on your device capability: </a:t>
            </a:r>
            <a:r>
              <a:rPr lang="en-US" b="1" dirty="0"/>
              <a:t>Google Nano</a:t>
            </a:r>
            <a:r>
              <a:rPr lang="en-US" dirty="0"/>
              <a:t>, or ML-Kit </a:t>
            </a:r>
            <a:r>
              <a:rPr lang="en-US" b="1" dirty="0"/>
              <a:t>Media Pipe</a:t>
            </a:r>
          </a:p>
          <a:p>
            <a:endParaRPr lang="en-US" b="1" dirty="0"/>
          </a:p>
          <a:p>
            <a:r>
              <a:rPr lang="en-US" b="0" dirty="0"/>
              <a:t>The TTS uses </a:t>
            </a:r>
            <a:r>
              <a:rPr lang="en-US" b="1" dirty="0"/>
              <a:t>Android TTS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To take a closer look at how we can configure this app, Let’s take a look at the </a:t>
            </a:r>
            <a:r>
              <a:rPr lang="en-US" b="1" dirty="0"/>
              <a:t>Settings Screen </a:t>
            </a:r>
            <a:r>
              <a:rPr lang="en-US" dirty="0"/>
              <a:t>of the app.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96411-9B54-9C68-76D7-6DA1BD9D6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43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E2B32-3939-D8A5-4DCB-288B0A9E7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1B1DF-03F1-AFE5-1F20-616562C71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93042-BA58-96E1-B5EF-AD38EC4E7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</a:t>
            </a:r>
            <a:r>
              <a:rPr lang="en-US" b="1" dirty="0"/>
              <a:t>Settings screen </a:t>
            </a:r>
            <a:r>
              <a:rPr lang="en-US" dirty="0"/>
              <a:t>for the app --- You can see, there are many settings here.</a:t>
            </a:r>
          </a:p>
          <a:p>
            <a:endParaRPr lang="en-US" dirty="0"/>
          </a:p>
          <a:p>
            <a:r>
              <a:rPr lang="en-US" dirty="0"/>
              <a:t>The GVP app is the most complex of the 3 apps --- that is because everything is on device and the app supports downloadable models.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First the Inference Settings (LLM):</a:t>
            </a:r>
          </a:p>
          <a:p>
            <a:endParaRPr lang="en-US" dirty="0"/>
          </a:p>
          <a:p>
            <a:r>
              <a:rPr lang="en-US" dirty="0"/>
              <a:t>I am running this app on my Google Pixel 10 which has the Google Tensor G5 processor. </a:t>
            </a:r>
          </a:p>
          <a:p>
            <a:endParaRPr lang="en-US" dirty="0"/>
          </a:p>
          <a:p>
            <a:r>
              <a:rPr lang="en-US" dirty="0"/>
              <a:t>You can see, my device has the “</a:t>
            </a:r>
            <a:r>
              <a:rPr lang="en-US" b="1" dirty="0"/>
              <a:t>AI Core: AVAILABLE (Feature 636</a:t>
            </a:r>
            <a:r>
              <a:rPr lang="en-US" dirty="0"/>
              <a:t>)” indication. This is an internal Google feature number.</a:t>
            </a:r>
          </a:p>
          <a:p>
            <a:endParaRPr lang="en-US" dirty="0"/>
          </a:p>
          <a:p>
            <a:r>
              <a:rPr lang="en-US" dirty="0"/>
              <a:t>The app will automatically allow you to choose </a:t>
            </a:r>
            <a:r>
              <a:rPr lang="en-US" b="1" dirty="0" err="1"/>
              <a:t>AICore</a:t>
            </a:r>
            <a:r>
              <a:rPr lang="en-US" b="1" dirty="0"/>
              <a:t> LLM </a:t>
            </a:r>
            <a:r>
              <a:rPr lang="en-US" dirty="0"/>
              <a:t>if this feature is available.</a:t>
            </a:r>
          </a:p>
          <a:p>
            <a:endParaRPr lang="en-US" dirty="0"/>
          </a:p>
          <a:p>
            <a:r>
              <a:rPr lang="en-US" dirty="0"/>
              <a:t>If your device </a:t>
            </a:r>
            <a:r>
              <a:rPr lang="en-US" b="1" dirty="0"/>
              <a:t>cannot run </a:t>
            </a:r>
            <a:r>
              <a:rPr lang="en-US" b="1" dirty="0" err="1"/>
              <a:t>AICore</a:t>
            </a:r>
            <a:r>
              <a:rPr lang="en-US" dirty="0"/>
              <a:t>, you can select </a:t>
            </a:r>
            <a:r>
              <a:rPr lang="en-US" b="1" dirty="0" err="1"/>
              <a:t>MediaPipe</a:t>
            </a:r>
            <a:r>
              <a:rPr lang="en-US" dirty="0"/>
              <a:t>, and then download a model of your choice., such as Qwen, Phi, or Gemma3.</a:t>
            </a:r>
          </a:p>
          <a:p>
            <a:endParaRPr lang="en-US" dirty="0"/>
          </a:p>
          <a:p>
            <a:r>
              <a:rPr lang="en-US" dirty="0"/>
              <a:t>If you want to use </a:t>
            </a:r>
            <a:r>
              <a:rPr lang="en-US" b="1" dirty="0"/>
              <a:t>Gemma3</a:t>
            </a:r>
            <a:r>
              <a:rPr lang="en-US" dirty="0"/>
              <a:t>, you will need to supply a </a:t>
            </a:r>
            <a:r>
              <a:rPr lang="en-US" b="1" dirty="0" err="1"/>
              <a:t>Huggingface</a:t>
            </a:r>
            <a:r>
              <a:rPr lang="en-US" b="1" dirty="0"/>
              <a:t> token</a:t>
            </a:r>
            <a:r>
              <a:rPr lang="en-US" dirty="0"/>
              <a:t> to validate the license agreement. The app will automatically down the model for you.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Next, the STT settings:</a:t>
            </a:r>
          </a:p>
          <a:p>
            <a:endParaRPr lang="en-US" dirty="0"/>
          </a:p>
          <a:p>
            <a:r>
              <a:rPr lang="en-US" dirty="0"/>
              <a:t>If you have the Pixel with G5, you can select the </a:t>
            </a:r>
            <a:r>
              <a:rPr lang="en-US" b="1" dirty="0"/>
              <a:t>ML Kit STT </a:t>
            </a:r>
            <a:r>
              <a:rPr lang="en-US" dirty="0"/>
              <a:t>(experimental) STT model. It works really well on device.</a:t>
            </a:r>
          </a:p>
          <a:p>
            <a:endParaRPr lang="en-US" dirty="0"/>
          </a:p>
          <a:p>
            <a:r>
              <a:rPr lang="en-US" dirty="0"/>
              <a:t>If not, you can choose the </a:t>
            </a:r>
            <a:r>
              <a:rPr lang="en-US" b="1" dirty="0"/>
              <a:t>Sherpa/ONXX </a:t>
            </a:r>
            <a:r>
              <a:rPr lang="en-US" dirty="0"/>
              <a:t>and select your model for download. </a:t>
            </a:r>
          </a:p>
          <a:p>
            <a:endParaRPr lang="en-US" dirty="0"/>
          </a:p>
          <a:p>
            <a:r>
              <a:rPr lang="en-US" dirty="0"/>
              <a:t>The larger models are more accurate.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And Lastly, we have the TTS settings.</a:t>
            </a:r>
          </a:p>
          <a:p>
            <a:endParaRPr lang="en-US" dirty="0"/>
          </a:p>
          <a:p>
            <a:r>
              <a:rPr lang="en-US" dirty="0"/>
              <a:t>This is where we select the output voice.</a:t>
            </a:r>
          </a:p>
          <a:p>
            <a:endParaRPr lang="en-US" dirty="0"/>
          </a:p>
          <a:p>
            <a:r>
              <a:rPr lang="en-US" dirty="0"/>
              <a:t>These voices are maintained by the Android TTS library.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At the very bottom, we have the Barge-In slider settings, </a:t>
            </a:r>
            <a:r>
              <a:rPr lang="en-US" b="1" dirty="0"/>
              <a:t>Mic Sensitivity</a:t>
            </a:r>
            <a:r>
              <a:rPr lang="en-US" dirty="0"/>
              <a:t>, and </a:t>
            </a:r>
            <a:r>
              <a:rPr lang="en-US" b="1" dirty="0"/>
              <a:t>Bargi-in </a:t>
            </a:r>
            <a:r>
              <a:rPr lang="en-US" b="1" dirty="0" err="1"/>
              <a:t>Threshhold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These barge-in settings are device </a:t>
            </a:r>
            <a:r>
              <a:rPr lang="en-US" b="1" dirty="0"/>
              <a:t>dependent</a:t>
            </a:r>
            <a:r>
              <a:rPr lang="en-US" dirty="0"/>
              <a:t>, so they don’t always work great, we will see a much better barge-in performance with the cloud apps.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1132F-22A4-89E6-2076-7BEBFC0F5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93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90B3A-8EE9-B825-FC5C-03C1E9A2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51B3A-363E-5182-D3DA-72C87DCC5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343DB-E2B3-DC5C-4AF5-BB36D5F86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run the Demo, let’s review the key app Concepts.</a:t>
            </a:r>
          </a:p>
          <a:p>
            <a:endParaRPr lang="en-US" dirty="0"/>
          </a:p>
          <a:p>
            <a:r>
              <a:rPr lang="en-US" dirty="0"/>
              <a:t>Here are the </a:t>
            </a:r>
            <a:r>
              <a:rPr lang="en-US" b="1" dirty="0"/>
              <a:t>HIGHLIGHTS</a:t>
            </a:r>
            <a:r>
              <a:rPr lang="en-US" dirty="0"/>
              <a:t> of the  GVP app on-device approach:</a:t>
            </a:r>
          </a:p>
          <a:p>
            <a:endParaRPr lang="en-US" dirty="0"/>
          </a:p>
          <a:p>
            <a:r>
              <a:rPr lang="en-US" dirty="0"/>
              <a:t>Zero Cloud calls</a:t>
            </a:r>
          </a:p>
          <a:p>
            <a:endParaRPr lang="en-US" dirty="0"/>
          </a:p>
          <a:p>
            <a:r>
              <a:rPr lang="en-US" dirty="0"/>
              <a:t>Privacy First</a:t>
            </a:r>
          </a:p>
          <a:p>
            <a:endParaRPr lang="en-US" dirty="0"/>
          </a:p>
          <a:p>
            <a:r>
              <a:rPr lang="en-US" dirty="0"/>
              <a:t>Fast TTFT, often &lt; 700 </a:t>
            </a:r>
            <a:r>
              <a:rPr lang="en-US" dirty="0" err="1"/>
              <a:t>ms.</a:t>
            </a:r>
            <a:endParaRPr lang="en-US" dirty="0"/>
          </a:p>
          <a:p>
            <a:endParaRPr lang="en-US" dirty="0"/>
          </a:p>
          <a:p>
            <a:r>
              <a:rPr lang="en-US" dirty="0"/>
              <a:t>Choice of LLMS is available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are 2 main </a:t>
            </a:r>
            <a:r>
              <a:rPr lang="en-US" b="1" dirty="0"/>
              <a:t>TRADEOFFS</a:t>
            </a:r>
            <a:r>
              <a:rPr lang="en-US" dirty="0"/>
              <a:t> we have to accept with this </a:t>
            </a:r>
            <a:r>
              <a:rPr lang="en-US" b="1" dirty="0"/>
              <a:t>on-device</a:t>
            </a:r>
            <a:r>
              <a:rPr lang="en-US" dirty="0"/>
              <a:t> architecture:</a:t>
            </a:r>
          </a:p>
          <a:p>
            <a:endParaRPr lang="en-US" dirty="0"/>
          </a:p>
          <a:p>
            <a:r>
              <a:rPr lang="en-US" dirty="0"/>
              <a:t>1) The </a:t>
            </a:r>
            <a:r>
              <a:rPr lang="en-US" b="1" dirty="0"/>
              <a:t>LLM quality </a:t>
            </a:r>
            <a:r>
              <a:rPr lang="en-US" dirty="0"/>
              <a:t>is not the best, because we are limited by device capability.</a:t>
            </a:r>
          </a:p>
          <a:p>
            <a:r>
              <a:rPr lang="en-US" dirty="0"/>
              <a:t>However, I find the Gemini Nano model is really quite surprising, as we will see in the demo.</a:t>
            </a:r>
          </a:p>
          <a:p>
            <a:endParaRPr lang="en-US" dirty="0"/>
          </a:p>
          <a:p>
            <a:r>
              <a:rPr lang="en-US" dirty="0"/>
              <a:t>2) This solution using </a:t>
            </a:r>
            <a:r>
              <a:rPr lang="en-US" dirty="0" err="1"/>
              <a:t>AICore</a:t>
            </a:r>
            <a:r>
              <a:rPr lang="en-US" dirty="0"/>
              <a:t> and </a:t>
            </a:r>
            <a:r>
              <a:rPr lang="en-US" dirty="0" err="1"/>
              <a:t>MlKit</a:t>
            </a:r>
            <a:r>
              <a:rPr lang="en-US" dirty="0"/>
              <a:t> </a:t>
            </a:r>
            <a:r>
              <a:rPr lang="en-US" b="1" dirty="0"/>
              <a:t>cannot run on low-end</a:t>
            </a:r>
            <a:r>
              <a:rPr lang="en-US" dirty="0"/>
              <a:t> devices.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 will run the demo on my Pixel 10 so we can see them in action.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DCB2E-AD65-C87A-C64D-56773F7105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56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demo the first, and then review some of the code.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[DEMO : SWITCH to Pixel 10 connection]</a:t>
            </a:r>
          </a:p>
          <a:p>
            <a:endParaRPr lang="en-US" dirty="0"/>
          </a:p>
          <a:p>
            <a:r>
              <a:rPr lang="en-US" dirty="0"/>
              <a:t>Let me launch the app on my Pixel 10</a:t>
            </a:r>
          </a:p>
          <a:p>
            <a:endParaRPr lang="en-US" dirty="0"/>
          </a:p>
          <a:p>
            <a:r>
              <a:rPr lang="en-US" dirty="0"/>
              <a:t>Let me tap into the settings so you can see that I have </a:t>
            </a:r>
            <a:br>
              <a:rPr lang="en-US" dirty="0"/>
            </a:br>
            <a:r>
              <a:rPr lang="en-US" dirty="0"/>
              <a:t>Inference = </a:t>
            </a:r>
            <a:r>
              <a:rPr lang="en-US" dirty="0" err="1"/>
              <a:t>AICore</a:t>
            </a:r>
            <a:br>
              <a:rPr lang="en-US" dirty="0"/>
            </a:br>
            <a:r>
              <a:rPr lang="en-US" dirty="0"/>
              <a:t>STT = ML Kit GenAI</a:t>
            </a:r>
            <a:br>
              <a:rPr lang="en-US" dirty="0"/>
            </a:br>
            <a:r>
              <a:rPr lang="en-US" dirty="0"/>
              <a:t>TTS output Voice = </a:t>
            </a:r>
            <a:r>
              <a:rPr lang="en-US" dirty="0" err="1"/>
              <a:t>en</a:t>
            </a:r>
            <a:r>
              <a:rPr lang="en-US" dirty="0"/>
              <a:t>-</a:t>
            </a:r>
            <a:r>
              <a:rPr lang="en-US" dirty="0" err="1"/>
              <a:t>gb</a:t>
            </a:r>
            <a:r>
              <a:rPr lang="en-US" dirty="0"/>
              <a:t>-x-</a:t>
            </a:r>
            <a:r>
              <a:rPr lang="en-US" dirty="0" err="1"/>
              <a:t>gbb</a:t>
            </a:r>
            <a:r>
              <a:rPr lang="en-US" dirty="0"/>
              <a:t>-network </a:t>
            </a:r>
          </a:p>
          <a:p>
            <a:endParaRPr lang="en-US" dirty="0"/>
          </a:p>
          <a:p>
            <a:r>
              <a:rPr lang="en-US" b="0" dirty="0"/>
              <a:t>Back in the main screen, let me show you the </a:t>
            </a:r>
            <a:r>
              <a:rPr lang="en-US" b="1" dirty="0"/>
              <a:t>System Message </a:t>
            </a:r>
            <a:r>
              <a:rPr lang="en-US" b="0" dirty="0"/>
              <a:t>we will be using: a </a:t>
            </a:r>
            <a:r>
              <a:rPr lang="en-US" b="1" dirty="0"/>
              <a:t>helpful voice assistant </a:t>
            </a:r>
            <a:r>
              <a:rPr lang="en-US" b="0" dirty="0"/>
              <a:t>the responds accordingly, short responses, in English.</a:t>
            </a:r>
          </a:p>
          <a:p>
            <a:endParaRPr lang="en-US" b="0" dirty="0"/>
          </a:p>
          <a:p>
            <a:r>
              <a:rPr lang="en-US" b="0" dirty="0"/>
              <a:t>Now I’ll start the conversation.</a:t>
            </a:r>
          </a:p>
          <a:p>
            <a:endParaRPr lang="en-US" b="0" dirty="0"/>
          </a:p>
          <a:p>
            <a:r>
              <a:rPr lang="en-US" b="0" dirty="0"/>
              <a:t>[ Mark has a conversation with the Assistant in English. ]</a:t>
            </a:r>
          </a:p>
          <a:p>
            <a:endParaRPr lang="en-US" b="0" dirty="0"/>
          </a:p>
          <a:p>
            <a:r>
              <a:rPr lang="en-US" b="0" dirty="0"/>
              <a:t>You can see, It’s a very impressive local voice assistant!</a:t>
            </a:r>
          </a:p>
          <a:p>
            <a:endParaRPr lang="en-US" b="0" dirty="0"/>
          </a:p>
          <a:p>
            <a:r>
              <a:rPr lang="en-US" b="0" dirty="0"/>
              <a:t>Next, let’s take a look at some of the key files in the project.</a:t>
            </a:r>
          </a:p>
          <a:p>
            <a:endParaRPr lang="en-US" b="0" dirty="0"/>
          </a:p>
          <a:p>
            <a:r>
              <a:rPr lang="en-US" b="0" dirty="0">
                <a:solidFill>
                  <a:schemeClr val="accent6"/>
                </a:solidFill>
                <a:highlight>
                  <a:srgbClr val="FFFF00"/>
                </a:highlight>
              </a:rPr>
              <a:t>[ Switch to the Github Repository ]</a:t>
            </a:r>
          </a:p>
          <a:p>
            <a:endParaRPr lang="en-US" b="0" dirty="0"/>
          </a:p>
          <a:p>
            <a:r>
              <a:rPr lang="en-US" b="0" dirty="0"/>
              <a:t>Here is the README.md file. It has some detailed information for the project you can read about. </a:t>
            </a:r>
          </a:p>
          <a:p>
            <a:endParaRPr lang="en-US" b="0" dirty="0"/>
          </a:p>
          <a:p>
            <a:r>
              <a:rPr lang="en-US" b="0" dirty="0"/>
              <a:t>Now lets </a:t>
            </a:r>
            <a:r>
              <a:rPr lang="en-US" b="0" dirty="0" err="1"/>
              <a:t>lets</a:t>
            </a:r>
            <a:r>
              <a:rPr lang="en-US" b="0" dirty="0"/>
              <a:t> at the overall file structure</a:t>
            </a:r>
          </a:p>
          <a:p>
            <a:endParaRPr lang="en-US" b="0" dirty="0"/>
          </a:p>
          <a:p>
            <a:r>
              <a:rPr lang="en-US" b="0" dirty="0"/>
              <a:t>The file structure follows the typical layout for MVVM architecture.</a:t>
            </a:r>
          </a:p>
          <a:p>
            <a:endParaRPr lang="en-US" b="0" dirty="0"/>
          </a:p>
          <a:p>
            <a:r>
              <a:rPr lang="en-US" b="0" dirty="0"/>
              <a:t>Let me show you how the App uses a background Service to record from the Microphone</a:t>
            </a:r>
          </a:p>
          <a:p>
            <a:r>
              <a:rPr lang="en-US" b="1" dirty="0"/>
              <a:t>Service/</a:t>
            </a:r>
            <a:r>
              <a:rPr lang="en-US" b="1" dirty="0" err="1"/>
              <a:t>VoiceAgentService.kt</a:t>
            </a:r>
            <a:endParaRPr lang="en-US" b="1" dirty="0"/>
          </a:p>
          <a:p>
            <a:endParaRPr lang="en-US" b="0" dirty="0"/>
          </a:p>
          <a:p>
            <a:r>
              <a:rPr lang="en-US" b="0" dirty="0"/>
              <a:t>The STT configuration and processing is handled by the files in the </a:t>
            </a:r>
            <a:r>
              <a:rPr lang="en-US" b="0" dirty="0" err="1"/>
              <a:t>stt</a:t>
            </a:r>
            <a:r>
              <a:rPr lang="en-US" b="0" dirty="0"/>
              <a:t>/ folder:</a:t>
            </a:r>
            <a:br>
              <a:rPr lang="en-US" b="0" dirty="0"/>
            </a:br>
            <a:r>
              <a:rPr lang="en-US" b="1" dirty="0" err="1"/>
              <a:t>stt</a:t>
            </a:r>
            <a:r>
              <a:rPr lang="en-US" b="1" dirty="0"/>
              <a:t>/</a:t>
            </a:r>
            <a:r>
              <a:rPr lang="en-US" b="1" dirty="0" err="1"/>
              <a:t>SherpaSttEngine.kt</a:t>
            </a:r>
            <a:r>
              <a:rPr lang="en-US" b="1" dirty="0"/>
              <a:t>  </a:t>
            </a:r>
            <a:br>
              <a:rPr lang="en-US" b="1" dirty="0"/>
            </a:br>
            <a:r>
              <a:rPr lang="en-US" b="1" dirty="0" err="1"/>
              <a:t>stt</a:t>
            </a:r>
            <a:r>
              <a:rPr lang="en-US" b="1" dirty="0"/>
              <a:t>/</a:t>
            </a:r>
            <a:r>
              <a:rPr lang="en-US" b="1" dirty="0" err="1"/>
              <a:t>MlKitGenAiSttEngine.kt</a:t>
            </a:r>
            <a:r>
              <a:rPr lang="en-US" b="1" dirty="0"/>
              <a:t>    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You can see LLM related classes in the </a:t>
            </a:r>
            <a:r>
              <a:rPr lang="en-US" b="0" dirty="0" err="1"/>
              <a:t>llm</a:t>
            </a:r>
            <a:r>
              <a:rPr lang="en-US" b="0" dirty="0"/>
              <a:t>/ folder</a:t>
            </a:r>
          </a:p>
          <a:p>
            <a:r>
              <a:rPr lang="en-US" b="0" dirty="0"/>
              <a:t>The AI Core Nano model is handled by this class.</a:t>
            </a:r>
          </a:p>
          <a:p>
            <a:r>
              <a:rPr lang="en-US" b="1" dirty="0" err="1"/>
              <a:t>llm</a:t>
            </a:r>
            <a:r>
              <a:rPr lang="en-US" b="1" dirty="0"/>
              <a:t>/</a:t>
            </a:r>
            <a:r>
              <a:rPr lang="en-US" b="1" dirty="0" err="1"/>
              <a:t>MlKitLlmEngine.kt</a:t>
            </a:r>
            <a:endParaRPr lang="en-US" b="1" dirty="0"/>
          </a:p>
          <a:p>
            <a:r>
              <a:rPr lang="en-US" b="0" dirty="0"/>
              <a:t>The initial system message is defined in this class:</a:t>
            </a:r>
          </a:p>
          <a:p>
            <a:r>
              <a:rPr lang="en-US" b="1" dirty="0" err="1"/>
              <a:t>Llm</a:t>
            </a:r>
            <a:r>
              <a:rPr lang="en-US" b="1" dirty="0"/>
              <a:t>/</a:t>
            </a:r>
            <a:r>
              <a:rPr lang="en-US" b="1" dirty="0" err="1"/>
              <a:t>LLMClient.kt</a:t>
            </a:r>
            <a:endParaRPr lang="it-IT" b="0" dirty="0"/>
          </a:p>
          <a:p>
            <a:endParaRPr lang="en-US" b="0" dirty="0"/>
          </a:p>
          <a:p>
            <a:endParaRPr lang="en-US" b="0" dirty="0"/>
          </a:p>
          <a:p>
            <a:r>
              <a:rPr lang="en-US" b="0" dirty="0"/>
              <a:t>[ Switch to the slides --- Cliff App is next ]</a:t>
            </a:r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4AEF9-0F03-4015-0C63-C2ABABD5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DC2B5-8624-0B07-4871-9FA39F4CD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C7D03-FBBE-F72D-69E5-D8F89C14B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device Voice is very powerful and has a promising future, especially as our devices become more powerful.</a:t>
            </a:r>
          </a:p>
          <a:p>
            <a:endParaRPr lang="en-US" dirty="0"/>
          </a:p>
          <a:p>
            <a:r>
              <a:rPr lang="en-US" dirty="0"/>
              <a:t>Now, let’s move onto the Cloud based solution … Introducing the </a:t>
            </a:r>
            <a:r>
              <a:rPr lang="en-US" b="1" dirty="0"/>
              <a:t>Cliff App</a:t>
            </a:r>
          </a:p>
          <a:p>
            <a:endParaRPr lang="en-US" dirty="0"/>
          </a:p>
          <a:p>
            <a:r>
              <a:rPr lang="en-US" dirty="0"/>
              <a:t>For the Cliff app, we are going to MOVE all 3 of the key pipeline components into the Cloud.</a:t>
            </a:r>
          </a:p>
          <a:p>
            <a:endParaRPr lang="en-US" dirty="0"/>
          </a:p>
          <a:p>
            <a:r>
              <a:rPr lang="en-US" dirty="0"/>
              <a:t>I will be using </a:t>
            </a:r>
            <a:r>
              <a:rPr lang="en-US" b="1" dirty="0"/>
              <a:t>Deepgram</a:t>
            </a:r>
            <a:r>
              <a:rPr lang="en-US" dirty="0"/>
              <a:t> as the model provider for STT and TTS.</a:t>
            </a:r>
          </a:p>
          <a:p>
            <a:endParaRPr lang="en-US" dirty="0"/>
          </a:p>
          <a:p>
            <a:r>
              <a:rPr lang="en-US" dirty="0"/>
              <a:t>I often use </a:t>
            </a:r>
            <a:r>
              <a:rPr lang="en-US" b="1" dirty="0"/>
              <a:t>Deepgram</a:t>
            </a:r>
            <a:r>
              <a:rPr lang="en-US" dirty="0"/>
              <a:t> and </a:t>
            </a:r>
            <a:r>
              <a:rPr lang="en-US" b="1" dirty="0" err="1"/>
              <a:t>Catesia</a:t>
            </a:r>
            <a:r>
              <a:rPr lang="en-US" dirty="0"/>
              <a:t> for these models because I think they have some of the best models.</a:t>
            </a:r>
          </a:p>
          <a:p>
            <a:endParaRPr lang="en-US" dirty="0"/>
          </a:p>
          <a:p>
            <a:r>
              <a:rPr lang="en-US" dirty="0"/>
              <a:t>For the STT, we will use the Deepgram </a:t>
            </a:r>
            <a:r>
              <a:rPr lang="en-US" b="1" dirty="0"/>
              <a:t>FLUX</a:t>
            </a:r>
            <a:r>
              <a:rPr lang="en-US" dirty="0"/>
              <a:t> model, it does a GREAT job.</a:t>
            </a:r>
          </a:p>
          <a:p>
            <a:endParaRPr lang="en-US" dirty="0"/>
          </a:p>
          <a:p>
            <a:r>
              <a:rPr lang="en-US" dirty="0"/>
              <a:t>For the TTS, we will use one of the Deepgram Aura-2 voices, actually we will use a </a:t>
            </a:r>
            <a:r>
              <a:rPr lang="en-US" b="1" dirty="0"/>
              <a:t>Japanese</a:t>
            </a:r>
            <a:r>
              <a:rPr lang="en-US" dirty="0"/>
              <a:t> voice.</a:t>
            </a:r>
          </a:p>
          <a:p>
            <a:endParaRPr lang="en-US" dirty="0"/>
          </a:p>
          <a:p>
            <a:r>
              <a:rPr lang="en-US" dirty="0"/>
              <a:t>And for the LLM model, we will use Claude Sonnet 4, you can recall from the earlier slide, it had good latency performance.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6AB0E-7EA5-7760-C941-3C3F6CB7E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01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F897D-090D-EAA9-08F4-B3EAA204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9CFA5-F4B9-0988-6747-6DA90B571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E157C-1E0B-24E1-1150-E094A96F3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let’s take a look at the Cliff App </a:t>
            </a:r>
            <a:r>
              <a:rPr lang="en-US" b="1" dirty="0"/>
              <a:t>Overview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By the Way, Cliff was the name of my </a:t>
            </a:r>
            <a:r>
              <a:rPr lang="en-US" b="1" dirty="0"/>
              <a:t>Grandfather</a:t>
            </a:r>
            <a:r>
              <a:rPr lang="en-US" dirty="0"/>
              <a:t>, and he was a good story teller.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Key Concepts:</a:t>
            </a:r>
          </a:p>
          <a:p>
            <a:endParaRPr lang="en-US" dirty="0"/>
          </a:p>
          <a:p>
            <a:r>
              <a:rPr lang="en-US" dirty="0"/>
              <a:t>Just like the GVP app, the Cliff app also implements </a:t>
            </a:r>
            <a:r>
              <a:rPr lang="en-US" b="1" dirty="0"/>
              <a:t>Full Duplex Streaming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latency performance </a:t>
            </a:r>
            <a:r>
              <a:rPr lang="en-US" dirty="0"/>
              <a:t>is very good, I would often see TTFT less than </a:t>
            </a:r>
            <a:r>
              <a:rPr lang="en-US" b="1" dirty="0"/>
              <a:t>800ms</a:t>
            </a:r>
            <a:r>
              <a:rPr lang="en-US" dirty="0"/>
              <a:t>.  You can see the latency of each turn displayed in the app.</a:t>
            </a:r>
          </a:p>
          <a:p>
            <a:endParaRPr lang="en-US" dirty="0"/>
          </a:p>
          <a:p>
            <a:r>
              <a:rPr lang="en-US" dirty="0"/>
              <a:t>We will implement </a:t>
            </a:r>
            <a:r>
              <a:rPr lang="en-US" b="1" dirty="0"/>
              <a:t>Japanese</a:t>
            </a:r>
            <a:r>
              <a:rPr lang="en-US" dirty="0"/>
              <a:t> in the Cliff app, I will show you the key code for this later. We have to </a:t>
            </a:r>
            <a:r>
              <a:rPr lang="en-US" b="1" dirty="0"/>
              <a:t>change</a:t>
            </a:r>
            <a:r>
              <a:rPr lang="en-US" dirty="0"/>
              <a:t> the STT and the TTS.</a:t>
            </a:r>
          </a:p>
          <a:p>
            <a:endParaRPr lang="en-US" dirty="0"/>
          </a:p>
          <a:p>
            <a:r>
              <a:rPr lang="en-US" b="1" dirty="0"/>
              <a:t>Barge-in</a:t>
            </a:r>
            <a:r>
              <a:rPr lang="en-US" dirty="0"/>
              <a:t> is supported directly by the Deepgram STT models, it works GREAT!</a:t>
            </a:r>
          </a:p>
          <a:p>
            <a:endParaRPr lang="en-US" dirty="0"/>
          </a:p>
          <a:p>
            <a:r>
              <a:rPr lang="en-US" dirty="0"/>
              <a:t>The app is </a:t>
            </a:r>
            <a:r>
              <a:rPr lang="en-US" b="1" dirty="0"/>
              <a:t>Stateless</a:t>
            </a:r>
            <a:r>
              <a:rPr lang="en-US" dirty="0"/>
              <a:t>, we will directly define the </a:t>
            </a:r>
            <a:r>
              <a:rPr lang="en-US" b="1" dirty="0"/>
              <a:t>System Message </a:t>
            </a:r>
            <a:r>
              <a:rPr lang="en-US" dirty="0"/>
              <a:t>and call the </a:t>
            </a:r>
            <a:r>
              <a:rPr lang="en-US" b="1" dirty="0"/>
              <a:t>LLM</a:t>
            </a:r>
            <a:r>
              <a:rPr lang="en-US" dirty="0"/>
              <a:t> API.</a:t>
            </a:r>
          </a:p>
          <a:p>
            <a:endParaRPr lang="en-US" dirty="0"/>
          </a:p>
          <a:p>
            <a:r>
              <a:rPr lang="en-US" dirty="0"/>
              <a:t>The most important concept of using Cloud-based models is managing access tokens.</a:t>
            </a:r>
          </a:p>
          <a:p>
            <a:endParaRPr lang="en-US" dirty="0"/>
          </a:p>
          <a:p>
            <a:r>
              <a:rPr lang="en-US" b="1" dirty="0"/>
              <a:t>No API Keys on the device.</a:t>
            </a:r>
          </a:p>
          <a:p>
            <a:endParaRPr lang="en-US" dirty="0"/>
          </a:p>
          <a:p>
            <a:r>
              <a:rPr lang="en-US" dirty="0"/>
              <a:t>We can’t hold tokens in the APK, so we have to manage then from a backend server.</a:t>
            </a:r>
          </a:p>
          <a:p>
            <a:endParaRPr lang="en-US" dirty="0"/>
          </a:p>
          <a:p>
            <a:r>
              <a:rPr lang="en-US" dirty="0"/>
              <a:t>I will show you how we can implement this.</a:t>
            </a:r>
          </a:p>
          <a:p>
            <a:endParaRPr lang="en-US" dirty="0"/>
          </a:p>
          <a:p>
            <a:r>
              <a:rPr lang="en-US" dirty="0"/>
              <a:t>And finally, I will show you the Audio Orb implementation. Cliff uses an ORB design.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1525F-A5A3-F370-15D0-2ABB19DB5B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00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talk about API Key Security.</a:t>
            </a:r>
          </a:p>
          <a:p>
            <a:endParaRPr lang="en-US" dirty="0"/>
          </a:p>
          <a:p>
            <a:r>
              <a:rPr lang="en-US" dirty="0"/>
              <a:t>The Cliff app uses cloud models, so we need API keys, and we need to manage those keys securely.</a:t>
            </a:r>
          </a:p>
          <a:p>
            <a:endParaRPr lang="en-US" dirty="0"/>
          </a:p>
          <a:p>
            <a:r>
              <a:rPr lang="en-US" dirty="0"/>
              <a:t>The most important rule-- </a:t>
            </a:r>
            <a:r>
              <a:rPr lang="en-US" b="1" dirty="0"/>
              <a:t>NEVER</a:t>
            </a:r>
            <a:r>
              <a:rPr lang="en-US" dirty="0"/>
              <a:t> hold API keys in the Android APK itself, because we don’t want them to be exposed.</a:t>
            </a:r>
          </a:p>
          <a:p>
            <a:endParaRPr lang="en-US" dirty="0"/>
          </a:p>
          <a:p>
            <a:r>
              <a:rPr lang="en-US" dirty="0"/>
              <a:t>The Cliff app </a:t>
            </a:r>
            <a:r>
              <a:rPr lang="en-US" b="1" dirty="0"/>
              <a:t>uses 2 common approaches </a:t>
            </a:r>
            <a:r>
              <a:rPr lang="en-US" dirty="0"/>
              <a:t>to manage API keys.</a:t>
            </a:r>
          </a:p>
          <a:p>
            <a:endParaRPr lang="en-US" dirty="0"/>
          </a:p>
          <a:p>
            <a:r>
              <a:rPr lang="en-US" dirty="0"/>
              <a:t>In the </a:t>
            </a:r>
            <a:r>
              <a:rPr lang="en-US" b="1" dirty="0"/>
              <a:t>first</a:t>
            </a:r>
            <a:r>
              <a:rPr lang="en-US" dirty="0"/>
              <a:t> Method--- call the backend server once at Startup to obtain the required API key.</a:t>
            </a:r>
          </a:p>
          <a:p>
            <a:endParaRPr lang="en-US" dirty="0"/>
          </a:p>
          <a:p>
            <a:r>
              <a:rPr lang="en-US" dirty="0"/>
              <a:t>Cliff uses this method to acquire the </a:t>
            </a:r>
            <a:r>
              <a:rPr lang="en-US" b="1" dirty="0"/>
              <a:t>Claude</a:t>
            </a:r>
            <a:r>
              <a:rPr lang="en-US" dirty="0"/>
              <a:t> API key. We need it to use the Sonnet or Haiku LLM models.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2</a:t>
            </a:r>
            <a:r>
              <a:rPr lang="en-US" b="1" baseline="30000" dirty="0"/>
              <a:t>nd</a:t>
            </a:r>
            <a:r>
              <a:rPr lang="en-US" dirty="0"/>
              <a:t> method is even better, we can use </a:t>
            </a:r>
            <a:r>
              <a:rPr lang="en-US" b="1" dirty="0"/>
              <a:t>Ephemeral</a:t>
            </a:r>
            <a:r>
              <a:rPr lang="en-US" dirty="0"/>
              <a:t> Tokens, which are temporary, short-lived tokens.</a:t>
            </a:r>
          </a:p>
          <a:p>
            <a:endParaRPr lang="en-US" dirty="0"/>
          </a:p>
          <a:p>
            <a:r>
              <a:rPr lang="en-US" dirty="0"/>
              <a:t>Cliff uses this method to obtain tokens for the </a:t>
            </a:r>
            <a:r>
              <a:rPr lang="en-US" b="1" dirty="0"/>
              <a:t>Deepgram</a:t>
            </a:r>
            <a:r>
              <a:rPr lang="en-US" dirty="0"/>
              <a:t> STT and TTS models.</a:t>
            </a:r>
          </a:p>
          <a:p>
            <a:endParaRPr lang="en-US" dirty="0"/>
          </a:p>
          <a:p>
            <a:r>
              <a:rPr lang="en-US" dirty="0"/>
              <a:t>Not all of the providers support ephemeral Tokens, so check your provider. Always use ephemeral token is they are available.</a:t>
            </a:r>
          </a:p>
          <a:p>
            <a:endParaRPr lang="en-US" dirty="0"/>
          </a:p>
          <a:p>
            <a:r>
              <a:rPr lang="en-US" dirty="0"/>
              <a:t>We will look at the backend server code (Python) to implement these token lookups on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A4406-B2E7-ED01-7F39-942B2407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27766-04E0-84D3-DD35-870C2CE94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13FBC-1C96-985E-E587-2B11BBB42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Lets do the Cliff </a:t>
            </a:r>
            <a:r>
              <a:rPr lang="en-US" b="1" dirty="0"/>
              <a:t>Demo</a:t>
            </a:r>
            <a:r>
              <a:rPr lang="en-US" dirty="0"/>
              <a:t>, and then look at some </a:t>
            </a:r>
            <a:r>
              <a:rPr lang="en-US" b="1" dirty="0"/>
              <a:t>code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 am running the Cliff demo on my Sony </a:t>
            </a:r>
            <a:r>
              <a:rPr lang="en-US" b="1" dirty="0"/>
              <a:t>Xperia1</a:t>
            </a:r>
            <a:r>
              <a:rPr lang="en-US" dirty="0"/>
              <a:t> device. </a:t>
            </a:r>
          </a:p>
          <a:p>
            <a:endParaRPr lang="en-US" dirty="0"/>
          </a:p>
          <a:p>
            <a:r>
              <a:rPr lang="en-US" dirty="0"/>
              <a:t>Cliff app does not need the Pixel’s AI Core and hardware </a:t>
            </a:r>
            <a:r>
              <a:rPr lang="en-US" b="1" dirty="0"/>
              <a:t>constraints</a:t>
            </a:r>
            <a:r>
              <a:rPr lang="en-US" dirty="0"/>
              <a:t>. It can run on any </a:t>
            </a:r>
            <a:r>
              <a:rPr lang="en-US" b="1" dirty="0"/>
              <a:t>connected</a:t>
            </a:r>
            <a:r>
              <a:rPr lang="en-US" dirty="0"/>
              <a:t> Android device.</a:t>
            </a:r>
          </a:p>
          <a:p>
            <a:endParaRPr lang="en-US" dirty="0"/>
          </a:p>
          <a:p>
            <a:r>
              <a:rPr lang="en-US" dirty="0"/>
              <a:t>When I start Cliff, you will first see the system message, instructing the LLM that we are working in Japanese language.</a:t>
            </a:r>
          </a:p>
          <a:p>
            <a:endParaRPr lang="en-US" dirty="0"/>
          </a:p>
          <a:p>
            <a:r>
              <a:rPr lang="en-US" dirty="0"/>
              <a:t>I will press the START button to begin. </a:t>
            </a:r>
          </a:p>
          <a:p>
            <a:r>
              <a:rPr lang="en-US" dirty="0"/>
              <a:t>I will say “</a:t>
            </a:r>
            <a:r>
              <a:rPr lang="en-US" dirty="0" err="1"/>
              <a:t>Kohnichiwa</a:t>
            </a:r>
            <a:r>
              <a:rPr lang="en-US" dirty="0"/>
              <a:t>” and we will hear Cliff’s response.</a:t>
            </a:r>
          </a:p>
          <a:p>
            <a:r>
              <a:rPr lang="en-US" dirty="0"/>
              <a:t>Then I will speak in English and ask Cliff what his name is.</a:t>
            </a:r>
          </a:p>
          <a:p>
            <a:r>
              <a:rPr lang="en-US" dirty="0"/>
              <a:t>Then I will ask Cliff to tell me a story, and I will interrupt him to show the Barge-in feature.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[ Conversation with the Assistant. ]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There is a toggle in the app to switch between the </a:t>
            </a:r>
            <a:r>
              <a:rPr lang="en-US" b="1" dirty="0"/>
              <a:t>visualization</a:t>
            </a:r>
            <a:r>
              <a:rPr lang="en-US" dirty="0"/>
              <a:t> and the text display.</a:t>
            </a:r>
          </a:p>
          <a:p>
            <a:r>
              <a:rPr lang="en-US" dirty="0"/>
              <a:t>At the top of the display, we have the </a:t>
            </a:r>
            <a:r>
              <a:rPr lang="en-US" b="1" dirty="0"/>
              <a:t>TTFT</a:t>
            </a:r>
            <a:r>
              <a:rPr lang="en-US" dirty="0"/>
              <a:t> status so we can see how well the system is performing.</a:t>
            </a:r>
          </a:p>
          <a:p>
            <a:r>
              <a:rPr lang="en-US" dirty="0"/>
              <a:t>Pressing the ‘X’ takes us </a:t>
            </a:r>
            <a:r>
              <a:rPr lang="en-US" b="1" dirty="0"/>
              <a:t>back</a:t>
            </a:r>
            <a:r>
              <a:rPr lang="en-US" dirty="0"/>
              <a:t> to the main screen.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Next, let’s take a look at some of the </a:t>
            </a:r>
            <a:r>
              <a:rPr lang="en-US" b="1" dirty="0"/>
              <a:t>key files </a:t>
            </a:r>
            <a:r>
              <a:rPr lang="en-US" b="0" dirty="0"/>
              <a:t>in the project.</a:t>
            </a:r>
          </a:p>
          <a:p>
            <a:endParaRPr lang="en-US" b="0" dirty="0"/>
          </a:p>
          <a:p>
            <a:r>
              <a:rPr lang="en-US" b="0" dirty="0"/>
              <a:t>[ Show the Cliff Github Repo Files ]</a:t>
            </a:r>
          </a:p>
          <a:p>
            <a:endParaRPr lang="en-US" b="0" dirty="0"/>
          </a:p>
          <a:p>
            <a:r>
              <a:rPr lang="en-US" b="0" dirty="0"/>
              <a:t>This is the </a:t>
            </a:r>
            <a:r>
              <a:rPr lang="en-US" b="1" dirty="0"/>
              <a:t>Cliff Repository on Github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b="0" dirty="0"/>
              <a:t>Again, there is a detailed </a:t>
            </a:r>
            <a:r>
              <a:rPr lang="en-US" b="1" dirty="0"/>
              <a:t>README.md </a:t>
            </a:r>
            <a:r>
              <a:rPr lang="en-US" b="0" dirty="0"/>
              <a:t>file in the repo.</a:t>
            </a:r>
          </a:p>
          <a:p>
            <a:endParaRPr lang="en-US" b="0" dirty="0"/>
          </a:p>
          <a:p>
            <a:r>
              <a:rPr lang="en-US" b="0" dirty="0"/>
              <a:t>The Cliff file structure also follows the </a:t>
            </a:r>
            <a:r>
              <a:rPr lang="en-US" b="1" dirty="0"/>
              <a:t>MVVM</a:t>
            </a:r>
            <a:r>
              <a:rPr lang="en-US" b="0" dirty="0"/>
              <a:t> architecture.</a:t>
            </a:r>
          </a:p>
          <a:p>
            <a:endParaRPr lang="en-US" b="0" dirty="0"/>
          </a:p>
          <a:p>
            <a:r>
              <a:rPr lang="en-US" b="0" dirty="0"/>
              <a:t>I want to show you the important files which enable the Japanese language:</a:t>
            </a:r>
          </a:p>
          <a:p>
            <a:endParaRPr lang="en-US" b="0" dirty="0"/>
          </a:p>
          <a:p>
            <a:r>
              <a:rPr lang="en-US" b="0" dirty="0" err="1"/>
              <a:t>Deepgram’s</a:t>
            </a:r>
            <a:r>
              <a:rPr lang="en-US" b="0" dirty="0"/>
              <a:t> STT model is called </a:t>
            </a:r>
            <a:r>
              <a:rPr lang="en-US" b="1" dirty="0"/>
              <a:t>Flux</a:t>
            </a:r>
            <a:r>
              <a:rPr lang="en-US" b="0" dirty="0"/>
              <a:t>.    </a:t>
            </a:r>
            <a:r>
              <a:rPr lang="en-US" sz="1200" b="1" dirty="0" err="1">
                <a:solidFill>
                  <a:schemeClr val="bg1"/>
                </a:solidFill>
              </a:rPr>
              <a:t>FluxClientImpl.kt</a:t>
            </a: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0" dirty="0">
                <a:solidFill>
                  <a:schemeClr val="bg1"/>
                </a:solidFill>
              </a:rPr>
              <a:t>implements the STT.</a:t>
            </a:r>
            <a:endParaRPr lang="en-US" b="0" dirty="0"/>
          </a:p>
          <a:p>
            <a:r>
              <a:rPr lang="en-US" dirty="0"/>
              <a:t>For the Japanese input, we need a </a:t>
            </a:r>
            <a:r>
              <a:rPr lang="en-US" b="1" dirty="0"/>
              <a:t>multi-language</a:t>
            </a:r>
            <a:r>
              <a:rPr lang="en-US" dirty="0"/>
              <a:t> model, so we swap out the English model to a multi language model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This is a “</a:t>
            </a:r>
            <a:r>
              <a:rPr lang="en-US" sz="1200" b="1" dirty="0">
                <a:solidFill>
                  <a:schemeClr val="bg1"/>
                </a:solidFill>
              </a:rPr>
              <a:t>MULTI</a:t>
            </a:r>
            <a:r>
              <a:rPr lang="en-US" sz="1200" dirty="0">
                <a:solidFill>
                  <a:schemeClr val="bg1"/>
                </a:solidFill>
              </a:rPr>
              <a:t>” model, so it can still understand when I speak in English. The “</a:t>
            </a:r>
            <a:r>
              <a:rPr lang="en-US" sz="1200" b="1" dirty="0">
                <a:solidFill>
                  <a:schemeClr val="bg1"/>
                </a:solidFill>
              </a:rPr>
              <a:t>Hint</a:t>
            </a:r>
            <a:r>
              <a:rPr lang="en-US" sz="1200" dirty="0">
                <a:solidFill>
                  <a:schemeClr val="bg1"/>
                </a:solidFill>
              </a:rPr>
              <a:t>” helps the model know to favor Japanese.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Next let’s look at the LLM Client which implements Claude as the LLM.</a:t>
            </a:r>
          </a:p>
          <a:p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LlmClient</a:t>
            </a:r>
            <a:r>
              <a:rPr lang="en-US" sz="1200" dirty="0" err="1">
                <a:solidFill>
                  <a:schemeClr val="bg1"/>
                </a:solidFill>
              </a:rPr>
              <a:t>.</a:t>
            </a:r>
            <a:r>
              <a:rPr lang="en-US" sz="1200" b="1" dirty="0" err="1">
                <a:solidFill>
                  <a:schemeClr val="bg1"/>
                </a:solidFill>
              </a:rPr>
              <a:t>kt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r>
              <a:rPr lang="en-US" sz="1200" dirty="0">
                <a:solidFill>
                  <a:schemeClr val="bg1"/>
                </a:solidFill>
              </a:rPr>
              <a:t>The LLM follows the system prompt.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And finally, we need to make Cliff speak Japanese, so we need to update the </a:t>
            </a:r>
            <a:r>
              <a:rPr lang="en-US" sz="1200" b="1" dirty="0" err="1">
                <a:solidFill>
                  <a:schemeClr val="bg1"/>
                </a:solidFill>
              </a:rPr>
              <a:t>DeepgramTtsClient</a:t>
            </a:r>
            <a:r>
              <a:rPr lang="en-US" sz="1200" dirty="0" err="1">
                <a:solidFill>
                  <a:schemeClr val="bg1"/>
                </a:solidFill>
              </a:rPr>
              <a:t>.</a:t>
            </a:r>
            <a:r>
              <a:rPr lang="en-US" sz="1200" b="1" dirty="0" err="1">
                <a:solidFill>
                  <a:schemeClr val="bg1"/>
                </a:solidFill>
              </a:rPr>
              <a:t>kt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r>
              <a:rPr lang="en-US" sz="1200" dirty="0">
                <a:solidFill>
                  <a:schemeClr val="bg1"/>
                </a:solidFill>
              </a:rPr>
              <a:t>We set the voice to a Japanese voice </a:t>
            </a:r>
            <a:r>
              <a:rPr lang="en-US" sz="1200" b="1" dirty="0">
                <a:solidFill>
                  <a:schemeClr val="bg1"/>
                </a:solidFill>
              </a:rPr>
              <a:t>— Aura-2 </a:t>
            </a:r>
            <a:r>
              <a:rPr lang="en-US" sz="1200" b="1" dirty="0" err="1">
                <a:solidFill>
                  <a:schemeClr val="bg1"/>
                </a:solidFill>
              </a:rPr>
              <a:t>uzume</a:t>
            </a:r>
            <a:r>
              <a:rPr lang="en-US" sz="1200" b="1" dirty="0">
                <a:solidFill>
                  <a:schemeClr val="bg1"/>
                </a:solidFill>
              </a:rPr>
              <a:t>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The Aura-2 voice is fixed when the socket opens.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Finally, let’s take a look at the server code to handle the Token management.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cliff_server.py </a:t>
            </a:r>
            <a:r>
              <a:rPr lang="en-US" sz="1200" dirty="0">
                <a:solidFill>
                  <a:schemeClr val="bg1"/>
                </a:solidFill>
              </a:rPr>
              <a:t>–</a:t>
            </a:r>
          </a:p>
          <a:p>
            <a:r>
              <a:rPr lang="en-US" sz="1200" dirty="0">
                <a:solidFill>
                  <a:schemeClr val="bg1"/>
                </a:solidFill>
              </a:rPr>
              <a:t>This is a simple server implementation in Python that can handle the Token requests from the app.</a:t>
            </a:r>
          </a:p>
          <a:p>
            <a:r>
              <a:rPr lang="en-US" sz="1200" dirty="0">
                <a:solidFill>
                  <a:schemeClr val="bg1"/>
                </a:solidFill>
              </a:rPr>
              <a:t>You can run this server code on any reachable connected device.</a:t>
            </a:r>
          </a:p>
          <a:p>
            <a:r>
              <a:rPr lang="en-US" sz="1200" dirty="0">
                <a:solidFill>
                  <a:schemeClr val="bg1"/>
                </a:solidFill>
              </a:rPr>
              <a:t>I am running the server for cliff on my Raspberry Pi5 box, it is right here [ show the box to the attendees ]</a:t>
            </a:r>
          </a:p>
          <a:p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05B92-32A2-A0A7-10EF-45610271BF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16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6A42-89A6-90FF-7B65-F6BF5440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246C5-7935-ED80-63CD-428EE6C66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8AE5F-4209-5FEA-236D-77C4008B5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up, let’s take a look at how we can access AI Agents using Voice on Android.</a:t>
            </a:r>
          </a:p>
          <a:p>
            <a:endParaRPr lang="en-US" dirty="0"/>
          </a:p>
          <a:p>
            <a:r>
              <a:rPr lang="en-US" dirty="0"/>
              <a:t>Introducing the </a:t>
            </a:r>
            <a:r>
              <a:rPr lang="en-US" b="1" dirty="0"/>
              <a:t>Pipecat App</a:t>
            </a:r>
            <a:r>
              <a:rPr lang="en-US" dirty="0"/>
              <a:t>, named after the </a:t>
            </a:r>
            <a:r>
              <a:rPr lang="en-US" b="1" dirty="0"/>
              <a:t>protocol</a:t>
            </a:r>
            <a:r>
              <a:rPr lang="en-US" dirty="0"/>
              <a:t> we will be using to move voice between a backend server.</a:t>
            </a:r>
          </a:p>
          <a:p>
            <a:endParaRPr lang="en-US" dirty="0"/>
          </a:p>
          <a:p>
            <a:r>
              <a:rPr lang="en-US" dirty="0"/>
              <a:t>With Agentic Voice, our apps become much more powerful by adding </a:t>
            </a:r>
            <a:r>
              <a:rPr lang="en-US" b="1" dirty="0"/>
              <a:t>memory</a:t>
            </a:r>
            <a:r>
              <a:rPr lang="en-US" dirty="0"/>
              <a:t> and </a:t>
            </a:r>
            <a:r>
              <a:rPr lang="en-US" b="1" dirty="0"/>
              <a:t>tool calls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873DF-A221-7DD8-4BE9-E1290A12AC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082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LLM’s are smart, but they lack two important functions for truly useful Agentic Voice AI: </a:t>
            </a:r>
            <a:r>
              <a:rPr lang="en-US" b="1" dirty="0"/>
              <a:t>memory</a:t>
            </a:r>
            <a:r>
              <a:rPr lang="en-US" dirty="0"/>
              <a:t> and </a:t>
            </a:r>
            <a:r>
              <a:rPr lang="en-US" b="1" dirty="0"/>
              <a:t>tool calling.</a:t>
            </a:r>
          </a:p>
          <a:p>
            <a:endParaRPr lang="en-US" dirty="0"/>
          </a:p>
          <a:p>
            <a:r>
              <a:rPr lang="en-US" dirty="0"/>
              <a:t>Two of the most powerful Agentic frameworks are </a:t>
            </a:r>
            <a:r>
              <a:rPr lang="en-US" b="1" dirty="0"/>
              <a:t>OpenClaw</a:t>
            </a:r>
            <a:r>
              <a:rPr lang="en-US" dirty="0"/>
              <a:t> and </a:t>
            </a:r>
            <a:r>
              <a:rPr lang="en-US" b="1" dirty="0"/>
              <a:t>Hermes</a:t>
            </a:r>
            <a:r>
              <a:rPr lang="en-US" dirty="0"/>
              <a:t> </a:t>
            </a:r>
            <a:r>
              <a:rPr lang="en-US" b="1" dirty="0"/>
              <a:t>Agent</a:t>
            </a:r>
            <a:r>
              <a:rPr lang="en-US" dirty="0"/>
              <a:t>,</a:t>
            </a:r>
          </a:p>
          <a:p>
            <a:endParaRPr lang="en-US" dirty="0"/>
          </a:p>
          <a:p>
            <a:r>
              <a:rPr lang="en-US" dirty="0"/>
              <a:t>These are </a:t>
            </a:r>
            <a:r>
              <a:rPr lang="en-US" b="1" dirty="0"/>
              <a:t>Open</a:t>
            </a:r>
            <a:r>
              <a:rPr lang="en-US" dirty="0"/>
              <a:t> </a:t>
            </a:r>
            <a:r>
              <a:rPr lang="en-US" b="1" dirty="0"/>
              <a:t>Source</a:t>
            </a:r>
            <a:r>
              <a:rPr lang="en-US" dirty="0"/>
              <a:t> frameworks, written almost entirely in </a:t>
            </a:r>
            <a:r>
              <a:rPr lang="en-US" b="1" dirty="0"/>
              <a:t>Python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For that reason, it is best to run them on the external </a:t>
            </a:r>
            <a:r>
              <a:rPr lang="en-US" b="1" dirty="0"/>
              <a:t>server</a:t>
            </a:r>
            <a:r>
              <a:rPr lang="en-US" dirty="0"/>
              <a:t>. I will be running them on my Raspberry Pi5 [ Show the attendees the Pi5 ]</a:t>
            </a:r>
          </a:p>
          <a:p>
            <a:endParaRPr lang="en-US" dirty="0"/>
          </a:p>
          <a:p>
            <a:r>
              <a:rPr lang="en-US" dirty="0"/>
              <a:t>I actually have more than 10 agents running on this little box.</a:t>
            </a:r>
          </a:p>
          <a:p>
            <a:endParaRPr lang="en-US" dirty="0"/>
          </a:p>
          <a:p>
            <a:r>
              <a:rPr lang="en-US" dirty="0"/>
              <a:t>So, we need a </a:t>
            </a:r>
            <a:r>
              <a:rPr lang="en-US" b="1" dirty="0"/>
              <a:t>transport protocol </a:t>
            </a:r>
            <a:r>
              <a:rPr lang="en-US" dirty="0"/>
              <a:t>that can easily handle real-time, streaming, full-duplex voice.</a:t>
            </a:r>
          </a:p>
          <a:p>
            <a:endParaRPr lang="en-US" dirty="0"/>
          </a:p>
          <a:p>
            <a:r>
              <a:rPr lang="en-US" dirty="0"/>
              <a:t>That is where </a:t>
            </a:r>
            <a:r>
              <a:rPr lang="en-US" b="1" dirty="0"/>
              <a:t>Pipecat</a:t>
            </a:r>
            <a:r>
              <a:rPr lang="en-US" dirty="0"/>
              <a:t> comes in.</a:t>
            </a:r>
          </a:p>
          <a:p>
            <a:endParaRPr lang="en-US" dirty="0"/>
          </a:p>
          <a:p>
            <a:r>
              <a:rPr lang="en-US" b="1" dirty="0"/>
              <a:t>Pipecat</a:t>
            </a:r>
            <a:r>
              <a:rPr lang="en-US" dirty="0"/>
              <a:t> is an open-source BSD licensed, vendor-neutral framework for real-time voice and multimodal AI pipelines.</a:t>
            </a:r>
          </a:p>
          <a:p>
            <a:endParaRPr lang="en-US" dirty="0"/>
          </a:p>
          <a:p>
            <a:r>
              <a:rPr lang="en-US" b="1" dirty="0"/>
              <a:t>MCP</a:t>
            </a:r>
            <a:r>
              <a:rPr lang="en-US" dirty="0"/>
              <a:t> is a popular protocol to connect with APIs and Data Sources. </a:t>
            </a:r>
            <a:br>
              <a:rPr lang="en-US" dirty="0"/>
            </a:br>
            <a:r>
              <a:rPr lang="en-US" dirty="0"/>
              <a:t>Notice in the drawing, this function is handled by the </a:t>
            </a:r>
            <a:r>
              <a:rPr lang="en-US" b="1" dirty="0"/>
              <a:t>Agentic Framework </a:t>
            </a:r>
            <a:r>
              <a:rPr lang="en-US" dirty="0"/>
              <a:t>such as OpenClaw or Hermes.</a:t>
            </a:r>
          </a:p>
          <a:p>
            <a:r>
              <a:rPr lang="en-US" dirty="0"/>
              <a:t>Sometime developers choose to pull this functionally up onto the </a:t>
            </a:r>
            <a:r>
              <a:rPr lang="en-US" b="1" dirty="0"/>
              <a:t>Android device</a:t>
            </a:r>
            <a:r>
              <a:rPr lang="en-US" dirty="0"/>
              <a:t>, but I find it easier to create Android Voice Agents if we locate this important function with the Agent Framework on the server.</a:t>
            </a:r>
          </a:p>
          <a:p>
            <a:endParaRPr lang="en-US" dirty="0"/>
          </a:p>
          <a:p>
            <a:r>
              <a:rPr lang="en-US" dirty="0"/>
              <a:t>There is one additional </a:t>
            </a:r>
            <a:r>
              <a:rPr lang="en-US" b="1" dirty="0"/>
              <a:t>consideration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 need a </a:t>
            </a:r>
            <a:r>
              <a:rPr lang="en-US" b="1" dirty="0"/>
              <a:t>connectivity</a:t>
            </a:r>
            <a:r>
              <a:rPr lang="en-US" dirty="0"/>
              <a:t> </a:t>
            </a:r>
            <a:r>
              <a:rPr lang="en-US" b="1" dirty="0"/>
              <a:t>solution</a:t>
            </a:r>
            <a:r>
              <a:rPr lang="en-US" dirty="0"/>
              <a:t> to </a:t>
            </a:r>
            <a:r>
              <a:rPr lang="en-US" b="1" dirty="0"/>
              <a:t>connect</a:t>
            </a:r>
            <a:r>
              <a:rPr lang="en-US" dirty="0"/>
              <a:t> our Android device with our backend server or edge devices.</a:t>
            </a:r>
          </a:p>
          <a:p>
            <a:endParaRPr lang="en-US" dirty="0"/>
          </a:p>
          <a:p>
            <a:r>
              <a:rPr lang="en-US" dirty="0"/>
              <a:t>I use </a:t>
            </a:r>
            <a:r>
              <a:rPr lang="en-US" b="1" dirty="0"/>
              <a:t>Tailscale </a:t>
            </a:r>
            <a:r>
              <a:rPr lang="en-US" dirty="0"/>
              <a:t>because it is very simple and effective for building AI Assistants.</a:t>
            </a:r>
          </a:p>
          <a:p>
            <a:endParaRPr lang="en-US" dirty="0"/>
          </a:p>
          <a:p>
            <a:r>
              <a:rPr lang="en-US" dirty="0"/>
              <a:t>You don’t have to use Tailscale, there are </a:t>
            </a:r>
            <a:r>
              <a:rPr lang="en-US" b="1" dirty="0"/>
              <a:t>alternative</a:t>
            </a:r>
            <a:r>
              <a:rPr lang="en-US" dirty="0"/>
              <a:t> approaches as shown at the bottom of the slide.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take a closer look at the </a:t>
            </a:r>
            <a:r>
              <a:rPr lang="en-US" b="1" dirty="0"/>
              <a:t>Agent Frameworks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These are the </a:t>
            </a:r>
            <a:r>
              <a:rPr lang="en-US" b="1" dirty="0"/>
              <a:t>two frameworks </a:t>
            </a:r>
            <a:r>
              <a:rPr lang="en-US" dirty="0"/>
              <a:t>I use when building Voice Agents: </a:t>
            </a:r>
            <a:r>
              <a:rPr lang="en-US" b="1" dirty="0"/>
              <a:t>OpenClaw</a:t>
            </a:r>
            <a:r>
              <a:rPr lang="en-US" dirty="0"/>
              <a:t> and </a:t>
            </a:r>
            <a:r>
              <a:rPr lang="en-US" b="1" dirty="0"/>
              <a:t>Hermes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Both are very successful </a:t>
            </a:r>
            <a:r>
              <a:rPr lang="en-US" b="1" dirty="0"/>
              <a:t>Open</a:t>
            </a:r>
            <a:r>
              <a:rPr lang="en-US" dirty="0"/>
              <a:t> </a:t>
            </a:r>
            <a:r>
              <a:rPr lang="en-US" b="1" dirty="0"/>
              <a:t>Source</a:t>
            </a:r>
            <a:r>
              <a:rPr lang="en-US" dirty="0"/>
              <a:t> projects.</a:t>
            </a:r>
          </a:p>
          <a:p>
            <a:endParaRPr lang="en-US" dirty="0"/>
          </a:p>
          <a:p>
            <a:r>
              <a:rPr lang="en-US" dirty="0"/>
              <a:t>They are both </a:t>
            </a:r>
            <a:r>
              <a:rPr lang="en-US" b="1" dirty="0"/>
              <a:t>Python</a:t>
            </a:r>
            <a:r>
              <a:rPr lang="en-US" dirty="0"/>
              <a:t> based.</a:t>
            </a:r>
          </a:p>
          <a:p>
            <a:endParaRPr lang="en-US" dirty="0"/>
          </a:p>
          <a:p>
            <a:r>
              <a:rPr lang="en-US" dirty="0"/>
              <a:t>They both support </a:t>
            </a:r>
            <a:r>
              <a:rPr lang="en-US" b="1" dirty="0"/>
              <a:t>Pipecat</a:t>
            </a:r>
            <a:r>
              <a:rPr lang="en-US" dirty="0"/>
              <a:t>, so we can have a </a:t>
            </a:r>
            <a:r>
              <a:rPr lang="en-US" b="1" dirty="0"/>
              <a:t>low-latency</a:t>
            </a:r>
            <a:r>
              <a:rPr lang="en-US" dirty="0"/>
              <a:t> </a:t>
            </a:r>
            <a:r>
              <a:rPr lang="en-US" b="1" dirty="0"/>
              <a:t>seamless</a:t>
            </a:r>
            <a:r>
              <a:rPr lang="en-US" dirty="0"/>
              <a:t> experience from Android.</a:t>
            </a:r>
          </a:p>
          <a:p>
            <a:endParaRPr lang="en-US" dirty="0"/>
          </a:p>
          <a:p>
            <a:r>
              <a:rPr lang="en-US" dirty="0"/>
              <a:t>We can’t cover them in detail here, but I have listed some of the important features.</a:t>
            </a:r>
          </a:p>
          <a:p>
            <a:endParaRPr lang="en-US" dirty="0"/>
          </a:p>
          <a:p>
            <a:r>
              <a:rPr lang="en-US" dirty="0"/>
              <a:t>OpenClaw is very useful as a Personal AI Assistant.</a:t>
            </a:r>
          </a:p>
          <a:p>
            <a:endParaRPr lang="en-US" dirty="0"/>
          </a:p>
          <a:p>
            <a:r>
              <a:rPr lang="en-US" dirty="0"/>
              <a:t>Hermes Agent is very good if you wish to build a self-improving agent.</a:t>
            </a:r>
          </a:p>
          <a:p>
            <a:endParaRPr lang="en-US" dirty="0"/>
          </a:p>
          <a:p>
            <a:r>
              <a:rPr lang="en-US" dirty="0"/>
              <a:t>We will be using the </a:t>
            </a:r>
            <a:r>
              <a:rPr lang="en-US" b="1" dirty="0"/>
              <a:t>Pipecat</a:t>
            </a:r>
            <a:r>
              <a:rPr lang="en-US" dirty="0"/>
              <a:t> client to access an </a:t>
            </a:r>
            <a:r>
              <a:rPr lang="en-US" b="1" dirty="0"/>
              <a:t>OpenClaw</a:t>
            </a:r>
            <a:r>
              <a:rPr lang="en-US" dirty="0"/>
              <a:t> agent who is configured as a </a:t>
            </a:r>
            <a:r>
              <a:rPr lang="en-US" b="1" dirty="0"/>
              <a:t>Baseball expert</a:t>
            </a:r>
            <a:r>
              <a:rPr lang="en-US" dirty="0"/>
              <a:t>, so we can follow </a:t>
            </a:r>
            <a:r>
              <a:rPr lang="en-US" b="1" dirty="0"/>
              <a:t>MLB</a:t>
            </a:r>
            <a:r>
              <a:rPr lang="en-US" dirty="0"/>
              <a:t> scores and our favorite player, </a:t>
            </a:r>
            <a:r>
              <a:rPr lang="en-US" b="1" dirty="0"/>
              <a:t>LA Dodgers #17 Shohei Ohtani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C1A4-40D8-3678-4369-B0708E0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75292-21D3-7DB5-1DE1-FF17184DD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3D8FB-F612-4918-7904-8BF5A51CF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before we show the demo and code, lets take an overview of the Pipecat Client App.</a:t>
            </a:r>
          </a:p>
          <a:p>
            <a:endParaRPr lang="en-US" dirty="0"/>
          </a:p>
          <a:p>
            <a:r>
              <a:rPr lang="en-US" dirty="0"/>
              <a:t>This is the </a:t>
            </a:r>
            <a:r>
              <a:rPr lang="en-US" b="1" dirty="0"/>
              <a:t>most simple </a:t>
            </a:r>
            <a:r>
              <a:rPr lang="en-US" dirty="0"/>
              <a:t>app of all three --- the Android device is just a </a:t>
            </a:r>
            <a:r>
              <a:rPr lang="en-US" b="1" dirty="0"/>
              <a:t>Mic + Speaker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All the intelligence lives on the </a:t>
            </a:r>
            <a:r>
              <a:rPr lang="en-US" b="1" dirty="0"/>
              <a:t>Pipecat server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architecture has a </a:t>
            </a:r>
            <a:r>
              <a:rPr lang="en-US" b="1" dirty="0"/>
              <a:t>Big Advantage</a:t>
            </a:r>
            <a:r>
              <a:rPr lang="en-US" dirty="0"/>
              <a:t> --- there are ZERO </a:t>
            </a:r>
            <a:r>
              <a:rPr lang="en-US" b="1" dirty="0"/>
              <a:t>API</a:t>
            </a:r>
            <a:r>
              <a:rPr lang="en-US" dirty="0"/>
              <a:t> </a:t>
            </a:r>
            <a:r>
              <a:rPr lang="en-US" b="1" dirty="0"/>
              <a:t>or</a:t>
            </a:r>
            <a:r>
              <a:rPr lang="en-US" dirty="0"/>
              <a:t> </a:t>
            </a:r>
            <a:r>
              <a:rPr lang="en-US" b="1" dirty="0"/>
              <a:t>tokens </a:t>
            </a:r>
            <a:r>
              <a:rPr lang="en-US" dirty="0"/>
              <a:t>to worry about on the Android device, we just POST over WebRTC using Pipecat.</a:t>
            </a:r>
          </a:p>
          <a:p>
            <a:endParaRPr lang="en-US" dirty="0"/>
          </a:p>
          <a:p>
            <a:r>
              <a:rPr lang="en-US" dirty="0"/>
              <a:t>The entire application resides in one file, </a:t>
            </a:r>
            <a:r>
              <a:rPr lang="en-US" b="1" dirty="0" err="1"/>
              <a:t>PicaVoiceClient</a:t>
            </a:r>
            <a:r>
              <a:rPr lang="en-US" dirty="0" err="1"/>
              <a:t>.</a:t>
            </a:r>
            <a:r>
              <a:rPr lang="en-US" b="1" dirty="0" err="1"/>
              <a:t>kt</a:t>
            </a:r>
            <a:r>
              <a:rPr lang="en-US" dirty="0"/>
              <a:t>, much </a:t>
            </a:r>
            <a:r>
              <a:rPr lang="en-US" b="1" dirty="0"/>
              <a:t>simpler</a:t>
            </a:r>
            <a:r>
              <a:rPr lang="en-US" dirty="0"/>
              <a:t> than the other apps.</a:t>
            </a:r>
          </a:p>
          <a:p>
            <a:endParaRPr lang="en-US" dirty="0"/>
          </a:p>
          <a:p>
            <a:r>
              <a:rPr lang="en-US" dirty="0"/>
              <a:t>The Agent </a:t>
            </a:r>
            <a:r>
              <a:rPr lang="en-US" b="1" dirty="0"/>
              <a:t>Framework lives on the server </a:t>
            </a:r>
            <a:r>
              <a:rPr lang="en-US" dirty="0"/>
              <a:t>and there is a </a:t>
            </a:r>
            <a:r>
              <a:rPr lang="en-US" b="1" dirty="0"/>
              <a:t>HUGE python support </a:t>
            </a:r>
            <a:r>
              <a:rPr lang="en-US" dirty="0"/>
              <a:t>for Agentic AI.</a:t>
            </a:r>
          </a:p>
          <a:p>
            <a:endParaRPr lang="en-US" dirty="0"/>
          </a:p>
          <a:p>
            <a:r>
              <a:rPr lang="en-US" dirty="0"/>
              <a:t>One of the best things about </a:t>
            </a:r>
            <a:r>
              <a:rPr lang="en-US" b="1" dirty="0"/>
              <a:t>Pipecat</a:t>
            </a:r>
            <a:r>
              <a:rPr lang="en-US" dirty="0"/>
              <a:t>, it is a </a:t>
            </a:r>
            <a:r>
              <a:rPr lang="en-US" b="1" dirty="0"/>
              <a:t>well-tested superior audio protocol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Many </a:t>
            </a:r>
            <a:r>
              <a:rPr lang="en-US" b="1" dirty="0"/>
              <a:t>huge companies</a:t>
            </a:r>
            <a:r>
              <a:rPr lang="en-US" dirty="0"/>
              <a:t> rely on and contribute to Pipecat for their Audio pipelines.</a:t>
            </a:r>
          </a:p>
          <a:p>
            <a:endParaRPr lang="en-US" b="1" dirty="0"/>
          </a:p>
          <a:p>
            <a:r>
              <a:rPr lang="en-US" b="0" dirty="0"/>
              <a:t>With Pipecat, </a:t>
            </a:r>
            <a:r>
              <a:rPr lang="en-US" b="1" dirty="0"/>
              <a:t>Barge-in</a:t>
            </a:r>
            <a:r>
              <a:rPr lang="en-US" dirty="0"/>
              <a:t> and </a:t>
            </a:r>
            <a:r>
              <a:rPr lang="en-US" b="1" dirty="0"/>
              <a:t>Echo Cancellation </a:t>
            </a:r>
            <a:r>
              <a:rPr lang="en-US" dirty="0"/>
              <a:t>work GREAT.</a:t>
            </a:r>
          </a:p>
          <a:p>
            <a:endParaRPr lang="en-US" dirty="0"/>
          </a:p>
          <a:p>
            <a:r>
              <a:rPr lang="en-US" dirty="0"/>
              <a:t>So, let’s run the </a:t>
            </a:r>
            <a:r>
              <a:rPr lang="en-US" b="1" dirty="0"/>
              <a:t>HOMER</a:t>
            </a:r>
            <a:r>
              <a:rPr lang="en-US" dirty="0"/>
              <a:t> demo and then look at some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72840-C947-1237-1A1B-76D3FE746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555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D8C69-E8AA-3E92-BFFC-E1B6FBAF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5DF86-AFDF-B8ED-9463-86A4DA3E6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BD5A7-060C-17A3-D7DF-842AC3CC0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see from the </a:t>
            </a:r>
            <a:r>
              <a:rPr lang="en-US" b="1" dirty="0"/>
              <a:t>left</a:t>
            </a:r>
            <a:r>
              <a:rPr lang="en-US" dirty="0"/>
              <a:t> screenshot, the App supports multiple connections.</a:t>
            </a:r>
          </a:p>
          <a:p>
            <a:endParaRPr lang="en-US" dirty="0"/>
          </a:p>
          <a:p>
            <a:r>
              <a:rPr lang="en-US" dirty="0"/>
              <a:t>It can connect to </a:t>
            </a:r>
            <a:r>
              <a:rPr lang="en-US" b="1" dirty="0"/>
              <a:t>MANY</a:t>
            </a:r>
            <a:r>
              <a:rPr lang="en-US" dirty="0"/>
              <a:t> agents you define on the server.</a:t>
            </a:r>
          </a:p>
          <a:p>
            <a:endParaRPr lang="en-US" dirty="0"/>
          </a:p>
          <a:p>
            <a:r>
              <a:rPr lang="en-US" dirty="0"/>
              <a:t>We simply choose and Agent we want to talk to and press “</a:t>
            </a:r>
            <a:r>
              <a:rPr lang="en-US" b="1" dirty="0"/>
              <a:t>Start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/>
              <a:t>We can also </a:t>
            </a:r>
            <a:r>
              <a:rPr lang="en-US" b="1" dirty="0"/>
              <a:t>Edit</a:t>
            </a:r>
            <a:r>
              <a:rPr lang="en-US" dirty="0"/>
              <a:t> and Agent’s connection parameters or add a new agent.</a:t>
            </a:r>
          </a:p>
          <a:p>
            <a:endParaRPr lang="en-US" dirty="0"/>
          </a:p>
          <a:p>
            <a:r>
              <a:rPr lang="en-US" dirty="0"/>
              <a:t>Let me show you Homer’s </a:t>
            </a:r>
            <a:r>
              <a:rPr lang="en-US" b="1" dirty="0"/>
              <a:t>parameters</a:t>
            </a:r>
            <a:r>
              <a:rPr lang="en-US" dirty="0"/>
              <a:t> before we chat with him.</a:t>
            </a:r>
          </a:p>
          <a:p>
            <a:endParaRPr lang="en-US" dirty="0"/>
          </a:p>
          <a:p>
            <a:r>
              <a:rPr lang="en-US" dirty="0"/>
              <a:t>You can see, the parameters tell the client which </a:t>
            </a:r>
            <a:r>
              <a:rPr lang="en-US" b="1" dirty="0"/>
              <a:t>server + port </a:t>
            </a:r>
            <a:r>
              <a:rPr lang="en-US" dirty="0"/>
              <a:t>to connect to.</a:t>
            </a:r>
          </a:p>
          <a:p>
            <a:endParaRPr lang="en-US" dirty="0"/>
          </a:p>
          <a:p>
            <a:r>
              <a:rPr lang="en-US" dirty="0"/>
              <a:t>Also, we can specify the </a:t>
            </a:r>
            <a:r>
              <a:rPr lang="en-US" b="1" dirty="0"/>
              <a:t>visualization</a:t>
            </a:r>
            <a:r>
              <a:rPr lang="en-US" dirty="0"/>
              <a:t>. Of course, for Homer we will use the Baseball Bases visualization.</a:t>
            </a:r>
          </a:p>
          <a:p>
            <a:endParaRPr lang="en-US" dirty="0"/>
          </a:p>
          <a:p>
            <a:r>
              <a:rPr lang="en-US" dirty="0"/>
              <a:t>Now, let me </a:t>
            </a:r>
            <a:r>
              <a:rPr lang="en-US" b="1" dirty="0"/>
              <a:t>start</a:t>
            </a:r>
            <a:r>
              <a:rPr lang="en-US" dirty="0"/>
              <a:t> the connection. Remember, the agents are on my </a:t>
            </a:r>
            <a:r>
              <a:rPr lang="en-US" b="1" dirty="0"/>
              <a:t>Raspberry Pi5 box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Homer will </a:t>
            </a:r>
            <a:r>
              <a:rPr lang="en-US" b="1" dirty="0"/>
              <a:t>speak to us first</a:t>
            </a:r>
            <a:r>
              <a:rPr lang="en-US" dirty="0"/>
              <a:t>. With OpenClaw, it can take </a:t>
            </a:r>
            <a:r>
              <a:rPr lang="en-US" b="1" dirty="0"/>
              <a:t>longer to respond (the TTFT</a:t>
            </a:r>
            <a:r>
              <a:rPr lang="en-US" dirty="0"/>
              <a:t>), so we have the system implement a “</a:t>
            </a:r>
            <a:r>
              <a:rPr lang="en-US" b="1" dirty="0"/>
              <a:t>typing</a:t>
            </a:r>
            <a:r>
              <a:rPr lang="en-US" dirty="0"/>
              <a:t>” sound so we know it is working.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 Start the Homer conversation 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 Finish the Homer conversation ]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see, Homer is very smart about MLB and the Dodgers.</a:t>
            </a:r>
          </a:p>
          <a:p>
            <a:endParaRPr lang="en-US" dirty="0"/>
          </a:p>
          <a:p>
            <a:r>
              <a:rPr lang="en-US" dirty="0"/>
              <a:t>Recall, our LLM is </a:t>
            </a:r>
            <a:r>
              <a:rPr lang="en-US" b="1" dirty="0"/>
              <a:t>GPT-4.</a:t>
            </a:r>
            <a:r>
              <a:rPr lang="en-US" dirty="0"/>
              <a:t> </a:t>
            </a:r>
          </a:p>
          <a:p>
            <a:r>
              <a:rPr lang="en-US" dirty="0"/>
              <a:t>If you ask GPT-4 about Shohei, it still thinks he plays for the </a:t>
            </a:r>
            <a:r>
              <a:rPr lang="en-US" b="1" dirty="0"/>
              <a:t>Angels</a:t>
            </a:r>
            <a:r>
              <a:rPr lang="en-US" dirty="0"/>
              <a:t>. But Homer knew Shohei plays for the Dodgers now.</a:t>
            </a:r>
          </a:p>
          <a:p>
            <a:endParaRPr lang="en-US" dirty="0"/>
          </a:p>
          <a:p>
            <a:r>
              <a:rPr lang="en-US" dirty="0"/>
              <a:t>OK, Let’s look at some key code for this </a:t>
            </a:r>
            <a:r>
              <a:rPr lang="en-US" b="1" dirty="0"/>
              <a:t>Android App </a:t>
            </a:r>
            <a:r>
              <a:rPr lang="en-US" dirty="0"/>
              <a:t>and </a:t>
            </a:r>
            <a:r>
              <a:rPr lang="en-US" b="1" dirty="0"/>
              <a:t>backend server</a:t>
            </a:r>
            <a:r>
              <a:rPr lang="en-US" dirty="0"/>
              <a:t>. There is a REPO for </a:t>
            </a:r>
            <a:r>
              <a:rPr lang="en-US" b="1" dirty="0"/>
              <a:t>both</a:t>
            </a:r>
            <a:r>
              <a:rPr lang="en-US" dirty="0"/>
              <a:t> the App and the Server</a:t>
            </a:r>
          </a:p>
          <a:p>
            <a:endParaRPr lang="en-US" dirty="0"/>
          </a:p>
          <a:p>
            <a:r>
              <a:rPr lang="en-US" dirty="0"/>
              <a:t>[ Show the Android App Github Repo ]</a:t>
            </a:r>
          </a:p>
          <a:p>
            <a:endParaRPr lang="en-US" dirty="0"/>
          </a:p>
          <a:p>
            <a:r>
              <a:rPr lang="en-US" dirty="0"/>
              <a:t>This is the README.md file for the Android App, it is very detailed.</a:t>
            </a:r>
          </a:p>
          <a:p>
            <a:endParaRPr lang="en-US" dirty="0"/>
          </a:p>
          <a:p>
            <a:r>
              <a:rPr lang="en-US" dirty="0"/>
              <a:t>The main file is </a:t>
            </a:r>
            <a:r>
              <a:rPr lang="en-US" b="1" dirty="0" err="1"/>
              <a:t>PicaVoiceClient.kt</a:t>
            </a:r>
            <a:r>
              <a:rPr lang="en-US" dirty="0"/>
              <a:t>, this is where all of the connection logic lives.</a:t>
            </a:r>
          </a:p>
          <a:p>
            <a:endParaRPr lang="en-US" dirty="0"/>
          </a:p>
          <a:p>
            <a:r>
              <a:rPr lang="en-US" dirty="0"/>
              <a:t>You can see the Android App is very simple.</a:t>
            </a:r>
          </a:p>
          <a:p>
            <a:endParaRPr lang="en-US" dirty="0"/>
          </a:p>
          <a:p>
            <a:r>
              <a:rPr lang="en-US" dirty="0"/>
              <a:t>Now let’s explore the OpenClaw brain Github repository.</a:t>
            </a:r>
          </a:p>
          <a:p>
            <a:endParaRPr lang="en-US" dirty="0"/>
          </a:p>
          <a:p>
            <a:r>
              <a:rPr lang="en-US" dirty="0"/>
              <a:t>[ Show the Homer OpenClaw Server Github repo ]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Again, the repo has a detailed README.md file, this is helpful if you need to set up your backend OpenClaw server.</a:t>
            </a:r>
          </a:p>
          <a:p>
            <a:endParaRPr lang="en-US" dirty="0"/>
          </a:p>
          <a:p>
            <a:r>
              <a:rPr lang="en-US" dirty="0"/>
              <a:t>First, in the </a:t>
            </a:r>
            <a:r>
              <a:rPr lang="en-US" b="1" dirty="0"/>
              <a:t>Workspace directory</a:t>
            </a:r>
            <a:r>
              <a:rPr lang="en-US" dirty="0"/>
              <a:t>, are the important Homer personality instructions. </a:t>
            </a:r>
            <a:br>
              <a:rPr lang="en-US" dirty="0"/>
            </a:br>
            <a:r>
              <a:rPr lang="en-US" dirty="0"/>
              <a:t>We have the </a:t>
            </a:r>
            <a:r>
              <a:rPr lang="en-US" b="1" dirty="0"/>
              <a:t>Soul.md</a:t>
            </a:r>
            <a:r>
              <a:rPr lang="en-US" dirty="0"/>
              <a:t>, </a:t>
            </a:r>
            <a:r>
              <a:rPr lang="en-US" b="1" dirty="0"/>
              <a:t>Identity.md</a:t>
            </a:r>
            <a:r>
              <a:rPr lang="en-US" dirty="0"/>
              <a:t>, and </a:t>
            </a:r>
            <a:r>
              <a:rPr lang="en-US" b="1" dirty="0"/>
              <a:t>Agents.md</a:t>
            </a:r>
          </a:p>
          <a:p>
            <a:endParaRPr lang="en-US" b="1" dirty="0"/>
          </a:p>
          <a:p>
            <a:r>
              <a:rPr lang="en-US" b="0" dirty="0"/>
              <a:t>And finally, we can inspect the </a:t>
            </a:r>
            <a:r>
              <a:rPr lang="en-US" b="1" dirty="0"/>
              <a:t>Skills/mlb.py </a:t>
            </a:r>
            <a:r>
              <a:rPr lang="en-US" b="0" dirty="0"/>
              <a:t>script. This is how Homer gets his current information from the free MLB API.</a:t>
            </a:r>
          </a:p>
          <a:p>
            <a:endParaRPr lang="en-US" b="0" dirty="0"/>
          </a:p>
          <a:p>
            <a:r>
              <a:rPr lang="en-US" dirty="0"/>
              <a:t>Now, let’s say goodbye to Home and then wrap things up. Let’s ask him if Shohei can hit a Home Run tonight !!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CEED6-14CE-7901-D129-F2850BD21B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88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 it, we completed 3 voice pipeline architectures, Local, Cloud, and Agentic.</a:t>
            </a:r>
          </a:p>
          <a:p>
            <a:endParaRPr lang="en-US" dirty="0"/>
          </a:p>
          <a:p>
            <a:r>
              <a:rPr lang="en-US" dirty="0"/>
              <a:t>Let’s review the key takeaways:</a:t>
            </a:r>
          </a:p>
          <a:p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We learned that it is important to </a:t>
            </a:r>
            <a:r>
              <a:rPr lang="en-US" b="1" dirty="0"/>
              <a:t>architect</a:t>
            </a:r>
            <a:r>
              <a:rPr lang="en-US" dirty="0"/>
              <a:t>, not code. </a:t>
            </a:r>
          </a:p>
          <a:p>
            <a:pPr marL="0" indent="0">
              <a:buNone/>
            </a:pPr>
            <a:r>
              <a:rPr lang="en-US" dirty="0"/>
              <a:t>      Let the coding agents write the code, while always </a:t>
            </a:r>
            <a:r>
              <a:rPr lang="en-US" b="1" dirty="0"/>
              <a:t>inspecting</a:t>
            </a:r>
            <a:r>
              <a:rPr lang="en-US" dirty="0"/>
              <a:t> it and </a:t>
            </a:r>
            <a:r>
              <a:rPr lang="en-US" b="1" dirty="0"/>
              <a:t>understanding</a:t>
            </a:r>
            <a:r>
              <a:rPr lang="en-US" dirty="0"/>
              <a:t> what it is writing.</a:t>
            </a:r>
          </a:p>
          <a:p>
            <a:endParaRPr lang="en-US" dirty="0"/>
          </a:p>
          <a:p>
            <a:pPr marL="228600" indent="-228600">
              <a:buAutoNum type="arabicPeriod" startAt="2"/>
            </a:pPr>
            <a:r>
              <a:rPr lang="en-US" dirty="0"/>
              <a:t>We covered </a:t>
            </a:r>
            <a:r>
              <a:rPr lang="en-US" b="1" dirty="0"/>
              <a:t>3 voice pipeline architectures</a:t>
            </a:r>
            <a:r>
              <a:rPr lang="en-US" dirty="0"/>
              <a:t>, </a:t>
            </a:r>
            <a:r>
              <a:rPr lang="en-US" b="1" dirty="0"/>
              <a:t>Local, Cloud, and Agent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 Choose the one the </a:t>
            </a:r>
            <a:r>
              <a:rPr lang="en-US" b="1" dirty="0"/>
              <a:t>best</a:t>
            </a:r>
            <a:r>
              <a:rPr lang="en-US" dirty="0"/>
              <a:t> </a:t>
            </a:r>
            <a:r>
              <a:rPr lang="en-US" b="1" dirty="0"/>
              <a:t>matches</a:t>
            </a:r>
            <a:r>
              <a:rPr lang="en-US" dirty="0"/>
              <a:t> your requirements.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eriod" startAt="3"/>
            </a:pPr>
            <a:r>
              <a:rPr lang="en-US" dirty="0"/>
              <a:t>Always </a:t>
            </a:r>
            <a:r>
              <a:rPr lang="en-US" b="1" dirty="0"/>
              <a:t>protect</a:t>
            </a:r>
            <a:r>
              <a:rPr lang="en-US" dirty="0"/>
              <a:t> your </a:t>
            </a:r>
            <a:r>
              <a:rPr lang="en-US" b="1" dirty="0"/>
              <a:t>API</a:t>
            </a:r>
            <a:r>
              <a:rPr lang="en-US" dirty="0"/>
              <a:t> </a:t>
            </a:r>
            <a:r>
              <a:rPr lang="en-US" b="1" dirty="0"/>
              <a:t>keys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Never place them in your Android app APK. </a:t>
            </a:r>
          </a:p>
          <a:p>
            <a:pPr marL="0" indent="0">
              <a:buNone/>
            </a:pPr>
            <a:r>
              <a:rPr lang="en-US" dirty="0"/>
              <a:t>      Use the </a:t>
            </a:r>
            <a:r>
              <a:rPr lang="en-US" b="1" dirty="0"/>
              <a:t>backend server </a:t>
            </a:r>
            <a:r>
              <a:rPr lang="en-US" dirty="0"/>
              <a:t>to protect and manage your API keys.</a:t>
            </a:r>
            <a:br>
              <a:rPr lang="en-US" dirty="0"/>
            </a:br>
            <a:r>
              <a:rPr lang="en-US" dirty="0"/>
              <a:t>      Short-lived </a:t>
            </a:r>
            <a:r>
              <a:rPr lang="en-US" b="1" dirty="0"/>
              <a:t>Ephemeral tokens </a:t>
            </a:r>
            <a:r>
              <a:rPr lang="en-US" dirty="0"/>
              <a:t>are the best approach.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eriod" startAt="4"/>
            </a:pPr>
            <a:r>
              <a:rPr lang="en-US" dirty="0"/>
              <a:t>Use powerful Agentic Interfaces such as </a:t>
            </a:r>
            <a:r>
              <a:rPr lang="en-US" b="1" dirty="0"/>
              <a:t>OpenClaw</a:t>
            </a:r>
            <a:r>
              <a:rPr lang="en-US" dirty="0"/>
              <a:t> and </a:t>
            </a:r>
            <a:r>
              <a:rPr lang="en-US" b="1" dirty="0"/>
              <a:t>Hermes</a:t>
            </a:r>
            <a:r>
              <a:rPr lang="en-US" dirty="0"/>
              <a:t> for the best user experience.</a:t>
            </a:r>
            <a:br>
              <a:rPr lang="en-US" dirty="0"/>
            </a:br>
            <a:r>
              <a:rPr lang="en-US" dirty="0"/>
              <a:t>They support </a:t>
            </a:r>
            <a:r>
              <a:rPr lang="en-US" b="1" dirty="0"/>
              <a:t>Memory</a:t>
            </a:r>
            <a:r>
              <a:rPr lang="en-US" dirty="0"/>
              <a:t> and </a:t>
            </a:r>
            <a:r>
              <a:rPr lang="en-US" b="1" dirty="0"/>
              <a:t>Tool Calling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this case we leverage Python on the server and keep our android app as the simple voice client.</a:t>
            </a:r>
          </a:p>
          <a:p>
            <a:pPr marL="228600" indent="-228600">
              <a:buAutoNum type="arabicPeriod" startAt="4"/>
            </a:pPr>
            <a:endParaRPr lang="en-US" dirty="0"/>
          </a:p>
          <a:p>
            <a:pPr marL="228600" indent="-228600">
              <a:buAutoNum type="arabicPeriod" startAt="4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eriod" startAt="2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D081-4FB9-4DD1-E277-A8F807FF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6238E-2F35-6028-438F-4D6BF8824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A8906-03F4-3B3E-44F8-14EE36498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concludes the presentation 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 H A N K   Y O U   T O K Y O  !!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3AA85-1B4B-4A62-7BEF-8DCBC83CC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6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27537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715693" y="1637302"/>
            <a:ext cx="6029325" cy="1305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Gets a Voice</a:t>
            </a:r>
            <a:endParaRPr lang="en-US" sz="44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Real-Time Agents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8474" y="6115050"/>
            <a:ext cx="19397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Wickham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2891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Platform / Audio Techniques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6632728-79A4-1F6F-E86F-AB3AD2DE036A}"/>
              </a:ext>
            </a:extLst>
          </p:cNvPr>
          <p:cNvSpPr/>
          <p:nvPr/>
        </p:nvSpPr>
        <p:spPr>
          <a:xfrm>
            <a:off x="1324204" y="3832895"/>
            <a:ext cx="1381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</a:t>
            </a:r>
            <a:endParaRPr lang="en-US" sz="1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CE0B371E-9A83-BE34-3A95-DAF9B3E57A59}"/>
              </a:ext>
            </a:extLst>
          </p:cNvPr>
          <p:cNvSpPr/>
          <p:nvPr/>
        </p:nvSpPr>
        <p:spPr>
          <a:xfrm>
            <a:off x="1324205" y="4784241"/>
            <a:ext cx="1381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r>
              <a: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BE8D783-C351-EDD0-5793-346A0C681371}"/>
              </a:ext>
            </a:extLst>
          </p:cNvPr>
          <p:cNvSpPr/>
          <p:nvPr/>
        </p:nvSpPr>
        <p:spPr>
          <a:xfrm>
            <a:off x="2629968" y="3829737"/>
            <a:ext cx="6590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https://www.linkedin.com/ln/mark-j-wickham</a:t>
            </a:r>
            <a:endParaRPr lang="en-US" sz="2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84CB52B-82FA-B5EB-EAAA-05A4F440513A}"/>
              </a:ext>
            </a:extLst>
          </p:cNvPr>
          <p:cNvSpPr/>
          <p:nvPr/>
        </p:nvSpPr>
        <p:spPr>
          <a:xfrm>
            <a:off x="2629968" y="4763498"/>
            <a:ext cx="6590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https://www.github.com/m15-ai/droidkaigi2026</a:t>
            </a:r>
            <a:endParaRPr lang="en-US" sz="24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E35458A6-C4D1-C4A2-E5A9-43AC806FE56E}"/>
              </a:ext>
            </a:extLst>
          </p:cNvPr>
          <p:cNvSpPr/>
          <p:nvPr/>
        </p:nvSpPr>
        <p:spPr>
          <a:xfrm>
            <a:off x="997417" y="3512747"/>
            <a:ext cx="43830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cs typeface="Arial" pitchFamily="34" charset="-120"/>
              </a:rPr>
              <a:t>CONNECT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07BC7BE3-91B2-5D71-50CD-4BD01F1B5906}"/>
              </a:ext>
            </a:extLst>
          </p:cNvPr>
          <p:cNvSpPr/>
          <p:nvPr/>
        </p:nvSpPr>
        <p:spPr>
          <a:xfrm>
            <a:off x="997417" y="4484845"/>
            <a:ext cx="42783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cs typeface="Arial" pitchFamily="34" charset="-120"/>
              </a:rPr>
              <a:t>ASSETS</a:t>
            </a:r>
            <a:endParaRPr lang="en-US" sz="20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E05EC-300A-5768-AD3A-3826A31F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B80C3B6D-A995-1DC8-4359-6C1AF340CEBE}"/>
              </a:ext>
            </a:extLst>
          </p:cNvPr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CD69BE-5F3D-2679-DB4F-4FDCCBD985BB}"/>
              </a:ext>
            </a:extLst>
          </p:cNvPr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D7B3BBF-123A-19EF-E3A8-9F359B1CEC5D}"/>
              </a:ext>
            </a:extLst>
          </p:cNvPr>
          <p:cNvSpPr/>
          <p:nvPr/>
        </p:nvSpPr>
        <p:spPr>
          <a:xfrm>
            <a:off x="1046711" y="2093981"/>
            <a:ext cx="9415156" cy="2754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Voice input is 4x </a:t>
            </a:r>
            <a:r>
              <a:rPr lang="en-US" sz="2800" i="1" dirty="0">
                <a:solidFill>
                  <a:schemeClr val="accent4"/>
                </a:solidFill>
                <a:ea typeface="Arial" pitchFamily="34" charset="-122"/>
                <a:cs typeface="Arial" pitchFamily="34" charset="-120"/>
              </a:rPr>
              <a:t>faster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 than typing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Voice carries </a:t>
            </a:r>
            <a:r>
              <a:rPr lang="en-US" sz="2800" i="1" dirty="0">
                <a:solidFill>
                  <a:schemeClr val="accent4"/>
                </a:solidFill>
                <a:ea typeface="Arial" pitchFamily="34" charset="-122"/>
                <a:cs typeface="Arial" pitchFamily="34" charset="-120"/>
              </a:rPr>
              <a:t>emotion</a:t>
            </a:r>
            <a:endParaRPr lang="en-US" sz="2800" i="1" dirty="0">
              <a:solidFill>
                <a:schemeClr val="bg1">
                  <a:lumMod val="65000"/>
                </a:schemeClr>
              </a:solidFill>
              <a:ea typeface="Arial" pitchFamily="34" charset="-122"/>
              <a:cs typeface="Arial" pitchFamily="34" charset="-12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Voice is immediately </a:t>
            </a:r>
            <a:r>
              <a:rPr lang="en-US" sz="2800" i="1" dirty="0">
                <a:solidFill>
                  <a:schemeClr val="accent4"/>
                </a:solidFill>
                <a:ea typeface="Arial" pitchFamily="34" charset="-122"/>
                <a:cs typeface="Arial" pitchFamily="34" charset="-120"/>
              </a:rPr>
              <a:t>recognizable</a:t>
            </a:r>
            <a:endParaRPr lang="en-US" sz="2800" i="1" dirty="0">
              <a:solidFill>
                <a:schemeClr val="bg1">
                  <a:lumMod val="65000"/>
                </a:schemeClr>
              </a:solidFill>
              <a:ea typeface="Arial" pitchFamily="34" charset="-122"/>
              <a:cs typeface="Arial" pitchFamily="34" charset="-12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Voice is </a:t>
            </a:r>
            <a:r>
              <a:rPr lang="en-US" sz="2800" i="1" dirty="0">
                <a:solidFill>
                  <a:schemeClr val="accent4"/>
                </a:solidFill>
                <a:ea typeface="Arial" pitchFamily="34" charset="-122"/>
                <a:cs typeface="Arial" pitchFamily="34" charset="-120"/>
              </a:rPr>
              <a:t>simple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, only need a mic and speaker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Powerful </a:t>
            </a:r>
            <a:r>
              <a:rPr lang="en-US" sz="2800" i="1" dirty="0">
                <a:solidFill>
                  <a:schemeClr val="accent4"/>
                </a:solidFill>
                <a:ea typeface="Arial" pitchFamily="34" charset="-122"/>
                <a:cs typeface="Arial" pitchFamily="34" charset="-120"/>
              </a:rPr>
              <a:t>LLM’s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 can chat with us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i="1" kern="0" dirty="0">
                <a:solidFill>
                  <a:schemeClr val="bg1">
                    <a:lumMod val="65000"/>
                  </a:schemeClr>
                </a:solidFill>
                <a:ea typeface="Calibri" pitchFamily="34" charset="-122"/>
                <a:cs typeface="Arial" pitchFamily="34" charset="-120"/>
              </a:rPr>
              <a:t>Coding </a:t>
            </a:r>
            <a:r>
              <a:rPr lang="en-US" sz="2800" i="1" kern="0" dirty="0">
                <a:solidFill>
                  <a:schemeClr val="accent4"/>
                </a:solidFill>
                <a:ea typeface="Calibri" pitchFamily="34" charset="-122"/>
                <a:cs typeface="Arial" pitchFamily="34" charset="-120"/>
              </a:rPr>
              <a:t>agents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ea typeface="Arial" pitchFamily="34" charset="-122"/>
                <a:cs typeface="Arial" pitchFamily="34" charset="-120"/>
              </a:rPr>
              <a:t> —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ea typeface="Arial" pitchFamily="34" charset="-122"/>
                <a:cs typeface="Arial" pitchFamily="34" charset="-120"/>
              </a:rPr>
              <a:t> it’s now easy to create complex software 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ACC3906B-C4C9-5949-C4DB-1B664959D6D1}"/>
              </a:ext>
            </a:extLst>
          </p:cNvPr>
          <p:cNvSpPr/>
          <p:nvPr/>
        </p:nvSpPr>
        <p:spPr>
          <a:xfrm>
            <a:off x="470850" y="455248"/>
            <a:ext cx="11166968" cy="11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40000"/>
              </a:lnSpc>
            </a:pPr>
            <a:r>
              <a:rPr lang="en-US" sz="5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Voice …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1493DDF2-95C2-8AF7-05F1-CB1373A4CCC3}"/>
              </a:ext>
            </a:extLst>
          </p:cNvPr>
          <p:cNvSpPr/>
          <p:nvPr/>
        </p:nvSpPr>
        <p:spPr>
          <a:xfrm>
            <a:off x="457200" y="4954823"/>
            <a:ext cx="10566878" cy="955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and our </a:t>
            </a:r>
            <a:r>
              <a:rPr lang="en-US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devices </a:t>
            </a:r>
            <a:r>
              <a:rPr lang="en-US" sz="2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the perfect platform to express it !</a:t>
            </a:r>
          </a:p>
        </p:txBody>
      </p:sp>
    </p:spTree>
    <p:extLst>
      <p:ext uri="{BB962C8B-B14F-4D97-AF65-F5344CB8AC3E}">
        <p14:creationId xmlns:p14="http://schemas.microsoft.com/office/powerpoint/2010/main" val="190848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1193714" y="4081568"/>
            <a:ext cx="4302211" cy="392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Fundamentals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93714" y="4615340"/>
            <a:ext cx="4229108" cy="1356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Latency, Streaming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Streaming, Echo cancel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-120"/>
              </a:rPr>
              <a:t>Connectivity, Barge-In</a:t>
            </a: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1DA0088A-E556-6E14-5E87-738910267287}"/>
              </a:ext>
            </a:extLst>
          </p:cNvPr>
          <p:cNvSpPr/>
          <p:nvPr/>
        </p:nvSpPr>
        <p:spPr>
          <a:xfrm>
            <a:off x="243479" y="320846"/>
            <a:ext cx="117627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4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04E7EC7-BCC0-CF2A-81DA-9C64E136815F}"/>
              </a:ext>
            </a:extLst>
          </p:cNvPr>
          <p:cNvSpPr/>
          <p:nvPr/>
        </p:nvSpPr>
        <p:spPr>
          <a:xfrm>
            <a:off x="1193714" y="1737606"/>
            <a:ext cx="3175386" cy="392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Coding Approach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0BFDD53-5340-B040-72EA-6AEE009263E1}"/>
              </a:ext>
            </a:extLst>
          </p:cNvPr>
          <p:cNvSpPr/>
          <p:nvPr/>
        </p:nvSpPr>
        <p:spPr>
          <a:xfrm>
            <a:off x="1193714" y="2316737"/>
            <a:ext cx="3393817" cy="1215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Requirements Markdown Template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C3AA77D-230D-6FDE-00E0-B38BA503BC7B}"/>
              </a:ext>
            </a:extLst>
          </p:cNvPr>
          <p:cNvSpPr/>
          <p:nvPr/>
        </p:nvSpPr>
        <p:spPr>
          <a:xfrm>
            <a:off x="612314" y="16725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84444F4-BB9D-8E9E-4295-725BFE91C2E3}"/>
              </a:ext>
            </a:extLst>
          </p:cNvPr>
          <p:cNvSpPr/>
          <p:nvPr/>
        </p:nvSpPr>
        <p:spPr>
          <a:xfrm>
            <a:off x="643926" y="401653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7EDDBC9-A077-E3DD-B139-FAAAC1D483A8}"/>
              </a:ext>
            </a:extLst>
          </p:cNvPr>
          <p:cNvSpPr/>
          <p:nvPr/>
        </p:nvSpPr>
        <p:spPr>
          <a:xfrm>
            <a:off x="5305126" y="1710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04D4A6B-001A-9374-542D-143C019D7E6C}"/>
              </a:ext>
            </a:extLst>
          </p:cNvPr>
          <p:cNvSpPr/>
          <p:nvPr/>
        </p:nvSpPr>
        <p:spPr>
          <a:xfrm>
            <a:off x="5836757" y="1676649"/>
            <a:ext cx="5515273" cy="64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Voice Architectures</a:t>
            </a:r>
            <a:endParaRPr lang="en-US" sz="28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005309-1575-D6F6-10E9-643BF0E123FD}"/>
              </a:ext>
            </a:extLst>
          </p:cNvPr>
          <p:cNvSpPr/>
          <p:nvPr/>
        </p:nvSpPr>
        <p:spPr>
          <a:xfrm>
            <a:off x="6658231" y="2538544"/>
            <a:ext cx="1204030" cy="730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5D7FC"/>
                </a:solidFill>
                <a:latin typeface="Arial" pitchFamily="34" charset="0"/>
                <a:cs typeface="Arial" pitchFamily="34" charset="-120"/>
              </a:rPr>
              <a:t>Local</a:t>
            </a:r>
            <a:endParaRPr lang="en-US" sz="2800" dirty="0">
              <a:solidFill>
                <a:srgbClr val="85D7FC"/>
              </a:solidFill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7D1429D-B806-ED1A-F1C1-89B9438335C5}"/>
              </a:ext>
            </a:extLst>
          </p:cNvPr>
          <p:cNvSpPr/>
          <p:nvPr/>
        </p:nvSpPr>
        <p:spPr>
          <a:xfrm>
            <a:off x="8166603" y="2446132"/>
            <a:ext cx="2896574" cy="102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85D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Voice Pipeline</a:t>
            </a:r>
            <a:endParaRPr lang="en-US" sz="2000" dirty="0">
              <a:solidFill>
                <a:srgbClr val="85D7FC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2000" dirty="0">
                <a:solidFill>
                  <a:srgbClr val="85D7FC"/>
                </a:solidFill>
                <a:latin typeface="Arial" pitchFamily="34" charset="0"/>
                <a:cs typeface="Arial" pitchFamily="34" charset="-120"/>
              </a:rPr>
              <a:t>Completely on-device</a:t>
            </a:r>
            <a:r>
              <a:rPr lang="en-US" sz="2000" dirty="0">
                <a:solidFill>
                  <a:srgbClr val="85D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br>
              <a:rPr lang="en-US" sz="2000" dirty="0">
                <a:solidFill>
                  <a:srgbClr val="85D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solidFill>
                  <a:srgbClr val="85D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Cloud, No Network. </a:t>
            </a:r>
            <a:endParaRPr lang="en-US" sz="2000" dirty="0">
              <a:solidFill>
                <a:srgbClr val="85D7FC"/>
              </a:solidFill>
            </a:endParaRPr>
          </a:p>
        </p:txBody>
      </p:sp>
      <p:pic>
        <p:nvPicPr>
          <p:cNvPr id="21" name="Picture 20" descr="GVP&#10;&#10;AI-generated content may be incorrect.">
            <a:extLst>
              <a:ext uri="{FF2B5EF4-FFF2-40B4-BE49-F238E27FC236}">
                <a16:creationId xmlns:a16="http://schemas.microsoft.com/office/drawing/2014/main" id="{56E4B59E-37C9-6612-07AF-262BEB111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687" y="2480992"/>
            <a:ext cx="1180313" cy="855728"/>
          </a:xfrm>
          <a:prstGeom prst="rect">
            <a:avLst/>
          </a:prstGeom>
        </p:spPr>
      </p:pic>
      <p:sp>
        <p:nvSpPr>
          <p:cNvPr id="25" name="Text 16">
            <a:extLst>
              <a:ext uri="{FF2B5EF4-FFF2-40B4-BE49-F238E27FC236}">
                <a16:creationId xmlns:a16="http://schemas.microsoft.com/office/drawing/2014/main" id="{DB41D677-11EB-447B-82F4-130BB15629CD}"/>
              </a:ext>
            </a:extLst>
          </p:cNvPr>
          <p:cNvSpPr/>
          <p:nvPr/>
        </p:nvSpPr>
        <p:spPr>
          <a:xfrm>
            <a:off x="6690130" y="3800370"/>
            <a:ext cx="1358315" cy="640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-120"/>
              </a:rPr>
              <a:t>Cloud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605F44CB-BA2F-2E17-F9FA-420F29B4DD73}"/>
              </a:ext>
            </a:extLst>
          </p:cNvPr>
          <p:cNvSpPr/>
          <p:nvPr/>
        </p:nvSpPr>
        <p:spPr>
          <a:xfrm>
            <a:off x="8166603" y="3675380"/>
            <a:ext cx="3106206" cy="1004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management</a:t>
            </a:r>
          </a:p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streaming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Multi-Lingual (Japanese)</a:t>
            </a:r>
          </a:p>
          <a:p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9" name="Picture 28" descr="Cliff&#10;&#10;AI-generated content may be incorrect.">
            <a:extLst>
              <a:ext uri="{FF2B5EF4-FFF2-40B4-BE49-F238E27FC236}">
                <a16:creationId xmlns:a16="http://schemas.microsoft.com/office/drawing/2014/main" id="{9CA22652-F5F0-C0B1-F112-4233BC2FD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751" y="3690431"/>
            <a:ext cx="1045368" cy="873291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FBE4C53B-853E-B743-7235-873EDA5CF67D}"/>
              </a:ext>
            </a:extLst>
          </p:cNvPr>
          <p:cNvSpPr/>
          <p:nvPr/>
        </p:nvSpPr>
        <p:spPr>
          <a:xfrm>
            <a:off x="6690130" y="4990387"/>
            <a:ext cx="1737654" cy="666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DC85"/>
                </a:solidFill>
                <a:latin typeface="Arial" pitchFamily="34" charset="0"/>
                <a:cs typeface="Arial" pitchFamily="34" charset="-120"/>
              </a:rPr>
              <a:t>Agentic</a:t>
            </a:r>
            <a:endParaRPr lang="en-US" sz="2800" dirty="0">
              <a:solidFill>
                <a:srgbClr val="7CDC85"/>
              </a:solidFill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45D844CA-9FC0-C287-FE4D-EEAB22452193}"/>
              </a:ext>
            </a:extLst>
          </p:cNvPr>
          <p:cNvSpPr/>
          <p:nvPr/>
        </p:nvSpPr>
        <p:spPr>
          <a:xfrm>
            <a:off x="8166603" y="4855176"/>
            <a:ext cx="3185428" cy="1004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7CDC8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Android Pipecat Client</a:t>
            </a:r>
            <a:br>
              <a:rPr lang="en-US" sz="2000" dirty="0">
                <a:solidFill>
                  <a:srgbClr val="7CDC8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7CDC8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WebRTC streaming</a:t>
            </a:r>
            <a:br>
              <a:rPr lang="en-US" sz="2000" dirty="0">
                <a:solidFill>
                  <a:srgbClr val="7CDC8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7CDC8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“Homer” </a:t>
            </a:r>
            <a:r>
              <a:rPr lang="en-US" sz="2000" dirty="0" err="1">
                <a:solidFill>
                  <a:srgbClr val="7CDC8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OpenClawAgent</a:t>
            </a:r>
            <a:endParaRPr lang="en-US" sz="2000" dirty="0">
              <a:solidFill>
                <a:srgbClr val="FB874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36" name="Picture 35" descr="The image depicts a simple, green circular shape with a stylized, curved, upward-pointing symbol, resembling an arrow or an upward-pointing line.&#10;&#10;AI-generated content may be incorrect.">
            <a:extLst>
              <a:ext uri="{FF2B5EF4-FFF2-40B4-BE49-F238E27FC236}">
                <a16:creationId xmlns:a16="http://schemas.microsoft.com/office/drawing/2014/main" id="{2D0ACE58-041F-CD8B-72BA-3ACD8B392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017" y="4917434"/>
            <a:ext cx="995997" cy="838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6AACF-1807-4757-3F22-BF00B0D6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9">
            <a:extLst>
              <a:ext uri="{FF2B5EF4-FFF2-40B4-BE49-F238E27FC236}">
                <a16:creationId xmlns:a16="http://schemas.microsoft.com/office/drawing/2014/main" id="{8D58FA65-94AD-166D-AC2C-DB9AF6094A2C}"/>
              </a:ext>
            </a:extLst>
          </p:cNvPr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332F28-AE55-80B9-A5FA-18CF6A977C83}"/>
              </a:ext>
            </a:extLst>
          </p:cNvPr>
          <p:cNvSpPr/>
          <p:nvPr/>
        </p:nvSpPr>
        <p:spPr>
          <a:xfrm>
            <a:off x="400513" y="2873055"/>
            <a:ext cx="11247120" cy="103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Coding Approach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9992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50824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Agents: Architect, Don't Code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726989" y="24996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286388" y="2603798"/>
            <a:ext cx="73108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 using structured template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726989" y="313970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295913" y="3153432"/>
            <a:ext cx="6257787" cy="516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the template to your coding agent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26989" y="37797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95913" y="3731558"/>
            <a:ext cx="5448162" cy="535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Agent to  “scaffold” the App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26989" y="441986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86389" y="4524038"/>
            <a:ext cx="31610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iterate</a:t>
            </a:r>
            <a:endParaRPr lang="en-US" sz="24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29EE5B3F-5029-0C3D-D4CF-E4B387B999DA}"/>
              </a:ext>
            </a:extLst>
          </p:cNvPr>
          <p:cNvSpPr/>
          <p:nvPr/>
        </p:nvSpPr>
        <p:spPr>
          <a:xfrm>
            <a:off x="470852" y="1675624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process to create Voice Apps on Android</a:t>
            </a:r>
            <a:endParaRPr lang="en-US" sz="3200" dirty="0"/>
          </a:p>
        </p:txBody>
      </p:sp>
      <p:pic>
        <p:nvPicPr>
          <p:cNvPr id="19" name="Picture 18" descr="Mr. Roboto&#10;&#10;AI-generated content may be incorrect.">
            <a:extLst>
              <a:ext uri="{FF2B5EF4-FFF2-40B4-BE49-F238E27FC236}">
                <a16:creationId xmlns:a16="http://schemas.microsoft.com/office/drawing/2014/main" id="{699B92AD-A6AA-99D4-F75B-FC2CBD9A4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34" y="2538149"/>
            <a:ext cx="2474073" cy="23957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E4515F-3609-A4F1-7B55-F48E9950D5E9}"/>
              </a:ext>
            </a:extLst>
          </p:cNvPr>
          <p:cNvSpPr txBox="1"/>
          <p:nvPr/>
        </p:nvSpPr>
        <p:spPr>
          <a:xfrm>
            <a:off x="1262062" y="1128792"/>
            <a:ext cx="9725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>
                <a:ln w="0"/>
                <a:solidFill>
                  <a:srgbClr val="FB874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Our job shifts from writing code to making decisions. 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7CAC8-92C5-38C7-79CA-10ADB8486364}"/>
              </a:ext>
            </a:extLst>
          </p:cNvPr>
          <p:cNvSpPr txBox="1"/>
          <p:nvPr/>
        </p:nvSpPr>
        <p:spPr>
          <a:xfrm>
            <a:off x="1038225" y="5897552"/>
            <a:ext cx="10172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realize a working app in just a few hours !</a:t>
            </a:r>
            <a:endParaRPr lang="en-US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70EBCE-5C93-93A1-253B-BF7A5C24C708}"/>
              </a:ext>
            </a:extLst>
          </p:cNvPr>
          <p:cNvSpPr txBox="1"/>
          <p:nvPr/>
        </p:nvSpPr>
        <p:spPr>
          <a:xfrm>
            <a:off x="573766" y="5191135"/>
            <a:ext cx="11041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Android_Voice_App_Requirements_Template.md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F7C9EDB-F82E-C24E-EF94-5F2721ACCD70}"/>
              </a:ext>
            </a:extLst>
          </p:cNvPr>
          <p:cNvSpPr/>
          <p:nvPr/>
        </p:nvSpPr>
        <p:spPr>
          <a:xfrm rot="1395639">
            <a:off x="10172478" y="3073811"/>
            <a:ext cx="1061324" cy="2278025"/>
          </a:xfrm>
          <a:custGeom>
            <a:avLst/>
            <a:gdLst>
              <a:gd name="csX0" fmla="*/ 0 w 1479798"/>
              <a:gd name="csY0" fmla="*/ 0 h 2552700"/>
              <a:gd name="csX1" fmla="*/ 1190625 w 1479798"/>
              <a:gd name="csY1" fmla="*/ 552450 h 2552700"/>
              <a:gd name="csX2" fmla="*/ 1466850 w 1479798"/>
              <a:gd name="csY2" fmla="*/ 1181100 h 2552700"/>
              <a:gd name="csX3" fmla="*/ 1409700 w 1479798"/>
              <a:gd name="csY3" fmla="*/ 1905000 h 2552700"/>
              <a:gd name="csX4" fmla="*/ 1190625 w 1479798"/>
              <a:gd name="csY4" fmla="*/ 2552700 h 255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79798" h="2552700">
                <a:moveTo>
                  <a:pt x="0" y="0"/>
                </a:moveTo>
                <a:cubicBezTo>
                  <a:pt x="473075" y="177800"/>
                  <a:pt x="946150" y="355600"/>
                  <a:pt x="1190625" y="552450"/>
                </a:cubicBezTo>
                <a:cubicBezTo>
                  <a:pt x="1435100" y="749300"/>
                  <a:pt x="1430337" y="955675"/>
                  <a:pt x="1466850" y="1181100"/>
                </a:cubicBezTo>
                <a:cubicBezTo>
                  <a:pt x="1503363" y="1406525"/>
                  <a:pt x="1455737" y="1676400"/>
                  <a:pt x="1409700" y="1905000"/>
                </a:cubicBezTo>
                <a:cubicBezTo>
                  <a:pt x="1363663" y="2133600"/>
                  <a:pt x="1277144" y="2343150"/>
                  <a:pt x="1190625" y="2552700"/>
                </a:cubicBezTo>
              </a:path>
            </a:pathLst>
          </a:custGeom>
          <a:ln w="635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B6CC1-DAD2-053F-8CD5-FFF1ABEC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C3F523-3C84-9DAF-74CF-232D8B08DD1E}"/>
              </a:ext>
            </a:extLst>
          </p:cNvPr>
          <p:cNvSpPr/>
          <p:nvPr/>
        </p:nvSpPr>
        <p:spPr>
          <a:xfrm>
            <a:off x="-1" y="0"/>
            <a:ext cx="12188825" cy="72780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D6E8D-8A5F-9867-6C64-84A9D6778DC0}"/>
              </a:ext>
            </a:extLst>
          </p:cNvPr>
          <p:cNvSpPr txBox="1"/>
          <p:nvPr/>
        </p:nvSpPr>
        <p:spPr>
          <a:xfrm>
            <a:off x="521727" y="377554"/>
            <a:ext cx="11041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Android_Voice_App_Requirements_Template.md</a:t>
            </a:r>
          </a:p>
        </p:txBody>
      </p:sp>
      <p:pic>
        <p:nvPicPr>
          <p:cNvPr id="3" name="Picture 2" descr="A requirements template for an Android voice application named Google Voice Pipeline, detailing its identity, target user, language support, and architectural constraints.&#10;&#10;AI-generated content may be incorrect.">
            <a:extLst>
              <a:ext uri="{FF2B5EF4-FFF2-40B4-BE49-F238E27FC236}">
                <a16:creationId xmlns:a16="http://schemas.microsoft.com/office/drawing/2014/main" id="{7D9A4E10-3ED4-6B4F-176B-B8421BAAE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520" y="1257300"/>
            <a:ext cx="6317784" cy="586651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27929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1C84F-216C-7A9F-D039-5D9D1EF3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9">
            <a:extLst>
              <a:ext uri="{FF2B5EF4-FFF2-40B4-BE49-F238E27FC236}">
                <a16:creationId xmlns:a16="http://schemas.microsoft.com/office/drawing/2014/main" id="{401C870C-94B3-BD09-AC40-CEE1956E3104}"/>
              </a:ext>
            </a:extLst>
          </p:cNvPr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139527-48D4-AB8F-2F4B-5BFCE0AAB6F4}"/>
              </a:ext>
            </a:extLst>
          </p:cNvPr>
          <p:cNvSpPr/>
          <p:nvPr/>
        </p:nvSpPr>
        <p:spPr>
          <a:xfrm>
            <a:off x="400513" y="2873055"/>
            <a:ext cx="11247120" cy="103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Voice Fundamentals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748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50288" y="325036"/>
            <a:ext cx="45830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Voice ▬ </a:t>
            </a:r>
            <a:endParaRPr lang="en-US" sz="3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6C47E1-055A-A0E9-13AD-0F5D2C8CB53B}"/>
              </a:ext>
            </a:extLst>
          </p:cNvPr>
          <p:cNvGrpSpPr/>
          <p:nvPr/>
        </p:nvGrpSpPr>
        <p:grpSpPr>
          <a:xfrm>
            <a:off x="2127486" y="1241472"/>
            <a:ext cx="2913687" cy="1847047"/>
            <a:chOff x="500435" y="1425039"/>
            <a:chExt cx="2913687" cy="1956324"/>
          </a:xfrm>
        </p:grpSpPr>
        <p:sp>
          <p:nvSpPr>
            <p:cNvPr id="5" name="Shape 3"/>
            <p:cNvSpPr/>
            <p:nvPr/>
          </p:nvSpPr>
          <p:spPr>
            <a:xfrm>
              <a:off x="500435" y="1430292"/>
              <a:ext cx="2913687" cy="1951071"/>
            </a:xfrm>
            <a:prstGeom prst="roundRect">
              <a:avLst>
                <a:gd name="adj" fmla="val 2791"/>
              </a:avLst>
            </a:prstGeom>
            <a:solidFill>
              <a:srgbClr val="161B22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516365" y="1425039"/>
              <a:ext cx="2897757" cy="56150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8514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Turn-Based Voice</a:t>
              </a:r>
              <a:endParaRPr lang="en-US" sz="2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33167" y="1908772"/>
              <a:ext cx="2648221" cy="142974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✗  Tap to speak
✗  Wait for recognition
✗  Wait for LLM response
✗  Wait for TTS playback
✗  No interruption possible
</a:t>
              </a:r>
              <a:endParaRPr lang="en-US" sz="1600" dirty="0"/>
            </a:p>
          </p:txBody>
        </p:sp>
      </p:grp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8661C3A8-396B-1658-E70A-0BA34DE2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7272"/>
              </p:ext>
            </p:extLst>
          </p:nvPr>
        </p:nvGraphicFramePr>
        <p:xfrm>
          <a:off x="226596" y="3441726"/>
          <a:ext cx="11708225" cy="2934381"/>
        </p:xfrm>
        <a:graphic>
          <a:graphicData uri="http://schemas.openxmlformats.org/drawingml/2006/table">
            <a:tbl>
              <a:tblPr>
                <a:tableStyleId>{46F890A9-2807-4EBB-B81D-B2AA78EC7F39}</a:tableStyleId>
              </a:tblPr>
              <a:tblGrid>
                <a:gridCol w="1710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7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86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dirty="0">
                          <a:solidFill>
                            <a:schemeClr val="accent1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dirty="0">
                          <a:solidFill>
                            <a:schemeClr val="accent1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WebSocket</a:t>
                      </a:r>
                      <a:endParaRPr lang="en-US" sz="1800" b="1" dirty="0">
                        <a:solidFill>
                          <a:sysClr val="windowText" lastClr="000000"/>
                        </a:solidFill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A consistent two-way connection for continuously streaming audio, transcripts, and AI responses.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08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WebRTC</a:t>
                      </a:r>
                      <a:endParaRPr lang="en-US" sz="1800" b="1" dirty="0">
                        <a:solidFill>
                          <a:sysClr val="windowText" lastClr="000000"/>
                        </a:solidFill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A real-time media protocol optimized for low-latency and voice communications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8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Packets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Delta packets 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are incremental updates of text or audio, streamed as the model generates it. </a:t>
                      </a:r>
                      <a:br>
                        <a:rPr lang="en-US" sz="1800" b="0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</a:b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Final packets </a:t>
                      </a: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are the completed stable result, such as a completed transcription or LLM response.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74091"/>
                  </a:ext>
                </a:extLst>
              </a:tr>
              <a:tr h="36708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Turn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Detecting when the user has completed speaking and the agent can process.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647339"/>
                  </a:ext>
                </a:extLst>
              </a:tr>
              <a:tr h="36708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AEC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Automatic Echo Cancellation, Hardware implementation cancels the speaker output from mic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939622"/>
                  </a:ext>
                </a:extLst>
              </a:tr>
              <a:tr h="36708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Barge-in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The ability for our pipeline to detect and handle interruptions.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333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DC05F92-9DD2-082A-D515-12EB57DFF652}"/>
              </a:ext>
            </a:extLst>
          </p:cNvPr>
          <p:cNvSpPr txBox="1"/>
          <p:nvPr/>
        </p:nvSpPr>
        <p:spPr>
          <a:xfrm>
            <a:off x="5041173" y="323892"/>
            <a:ext cx="6600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9D1D9"/>
                </a:solidFill>
                <a:latin typeface="Berlin Sans FB" panose="020E0602020502020306" pitchFamily="34" charset="0"/>
                <a:ea typeface="Arial" pitchFamily="34" charset="-122"/>
                <a:cs typeface="Arial" pitchFamily="34" charset="-120"/>
              </a:rPr>
              <a:t>“Feels Like a Real Conversation”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0DBBC0-1E65-EB6E-2CD5-8C0F32F55E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9394513">
            <a:off x="300659" y="1091128"/>
            <a:ext cx="2196699" cy="183058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644CB9C-7534-9E09-AA4F-44000702A377}"/>
              </a:ext>
            </a:extLst>
          </p:cNvPr>
          <p:cNvGrpSpPr/>
          <p:nvPr/>
        </p:nvGrpSpPr>
        <p:grpSpPr>
          <a:xfrm>
            <a:off x="5457785" y="1218524"/>
            <a:ext cx="3874576" cy="1869995"/>
            <a:chOff x="3803639" y="1425039"/>
            <a:chExt cx="3874576" cy="2207425"/>
          </a:xfrm>
        </p:grpSpPr>
        <p:sp>
          <p:nvSpPr>
            <p:cNvPr id="83" name="Shape 6"/>
            <p:cNvSpPr/>
            <p:nvPr/>
          </p:nvSpPr>
          <p:spPr>
            <a:xfrm>
              <a:off x="3803639" y="1425039"/>
              <a:ext cx="3874576" cy="2207425"/>
            </a:xfrm>
            <a:prstGeom prst="roundRect">
              <a:avLst>
                <a:gd name="adj" fmla="val 2791"/>
              </a:avLst>
            </a:prstGeom>
            <a:solidFill>
              <a:srgbClr val="161B22"/>
            </a:solidFill>
            <a:ln w="1905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7"/>
            <p:cNvSpPr/>
            <p:nvPr/>
          </p:nvSpPr>
          <p:spPr>
            <a:xfrm>
              <a:off x="3914968" y="1531179"/>
              <a:ext cx="365191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FB9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shift to REAL-TIME</a:t>
              </a:r>
              <a:endParaRPr lang="en-US" sz="2400" dirty="0"/>
            </a:p>
          </p:txBody>
        </p:sp>
        <p:sp>
          <p:nvSpPr>
            <p:cNvPr id="85" name="Text 8"/>
            <p:cNvSpPr/>
            <p:nvPr/>
          </p:nvSpPr>
          <p:spPr>
            <a:xfrm>
              <a:off x="4094807" y="1894740"/>
              <a:ext cx="3527743" cy="146819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 Continuous </a:t>
              </a:r>
              <a:r>
                <a:rPr lang="en-US" sz="1600" b="1" dirty="0">
                  <a:solidFill>
                    <a:srgbClr val="7CDC8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Streaming </a:t>
              </a:r>
              <a:r>
                <a:rPr lang="en-US" sz="16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 no wait</a:t>
              </a:r>
            </a:p>
            <a:p>
              <a:r>
                <a:rPr lang="en-US" sz="16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 </a:t>
              </a:r>
              <a:r>
                <a:rPr lang="en-US" sz="1600" b="1" dirty="0">
                  <a:solidFill>
                    <a:srgbClr val="7CDC8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Full Duplex</a:t>
              </a:r>
              <a:r>
                <a:rPr lang="en-US" sz="16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
✓  </a:t>
              </a:r>
              <a:r>
                <a:rPr lang="en-US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Token-</a:t>
              </a:r>
              <a:r>
                <a:rPr lang="en-US" sz="1600" b="1" dirty="0">
                  <a:solidFill>
                    <a:srgbClr val="7CDC8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Streaming LLM </a:t>
              </a:r>
              <a:r>
                <a:rPr lang="en-US" sz="16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responses
✓  </a:t>
              </a:r>
              <a:r>
                <a:rPr lang="en-US" sz="1600" b="1" dirty="0">
                  <a:solidFill>
                    <a:srgbClr val="7CDC8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Low-latency</a:t>
              </a:r>
              <a:r>
                <a:rPr lang="en-US" sz="16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TTS playback
✓  Full </a:t>
              </a:r>
              <a:r>
                <a:rPr lang="en-US" sz="1600" b="1" dirty="0">
                  <a:solidFill>
                    <a:srgbClr val="7CDC8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Barge-In</a:t>
              </a:r>
              <a:r>
                <a:rPr lang="en-US" sz="16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/ interruption
</a:t>
              </a:r>
              <a:endParaRPr lang="en-US" sz="1600" dirty="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DD8CD59D-38D9-0B46-2B4C-E426892884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07308" y="1257431"/>
            <a:ext cx="2255204" cy="1790632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3A95D57C-F1FC-BC61-ECA6-F124FCDCB691}"/>
              </a:ext>
            </a:extLst>
          </p:cNvPr>
          <p:cNvSpPr/>
          <p:nvPr/>
        </p:nvSpPr>
        <p:spPr>
          <a:xfrm>
            <a:off x="4949190" y="1997718"/>
            <a:ext cx="595172" cy="44908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iff&#10;&#10;AI-generated content may be incorrect.">
            <a:extLst>
              <a:ext uri="{FF2B5EF4-FFF2-40B4-BE49-F238E27FC236}">
                <a16:creationId xmlns:a16="http://schemas.microsoft.com/office/drawing/2014/main" id="{6DD82F0E-ECFE-6688-2147-210B5F063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4579" y="3808695"/>
            <a:ext cx="611829" cy="511116"/>
          </a:xfrm>
          <a:prstGeom prst="rect">
            <a:avLst/>
          </a:prstGeom>
        </p:spPr>
      </p:pic>
      <p:pic>
        <p:nvPicPr>
          <p:cNvPr id="17" name="Picture 16" descr="The image depicts a simple, green circular shape with a stylized, curved, upward-pointing symbol, resembling an arrow or an upward-pointing line.&#10;&#10;AI-generated content may be incorrect.">
            <a:extLst>
              <a:ext uri="{FF2B5EF4-FFF2-40B4-BE49-F238E27FC236}">
                <a16:creationId xmlns:a16="http://schemas.microsoft.com/office/drawing/2014/main" id="{53745797-1C59-19F2-42AA-F03B62ECE9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0959" y="4187501"/>
            <a:ext cx="614932" cy="5179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E2780-2F9E-ED3F-86A6-803666CB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4F65B3C2-2E29-CE7A-29AD-71A1C0DCDA51}"/>
              </a:ext>
            </a:extLst>
          </p:cNvPr>
          <p:cNvSpPr/>
          <p:nvPr/>
        </p:nvSpPr>
        <p:spPr>
          <a:xfrm>
            <a:off x="-127" y="0"/>
            <a:ext cx="12188952" cy="6969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AA15939-6F94-9BE8-2196-7BCA4B960916}"/>
              </a:ext>
            </a:extLst>
          </p:cNvPr>
          <p:cNvSpPr/>
          <p:nvPr/>
        </p:nvSpPr>
        <p:spPr>
          <a:xfrm>
            <a:off x="146088" y="181823"/>
            <a:ext cx="11919663" cy="96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3400"/>
              </a:lnSpc>
            </a:pPr>
            <a:r>
              <a:rPr lang="en-US" sz="36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Conversational AI Architecture</a:t>
            </a:r>
            <a:br>
              <a:rPr lang="en-US" sz="36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(Realtime, Full Duplex, Streaming)</a:t>
            </a:r>
            <a:endParaRPr lang="en-US" sz="2400" b="1" dirty="0"/>
          </a:p>
        </p:txBody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7258F465-0649-0AD6-1631-DA5EEACD698E}"/>
              </a:ext>
            </a:extLst>
          </p:cNvPr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DroidKaigi 2026  ·  Tokyo</a:t>
            </a:r>
            <a:endParaRPr lang="en-US" sz="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07FAAA12-9DE6-BE60-1269-CE10184C819B}"/>
              </a:ext>
            </a:extLst>
          </p:cNvPr>
          <p:cNvCxnSpPr>
            <a:cxnSpLocks/>
            <a:endCxn id="5" idx="0"/>
          </p:cNvCxnSpPr>
          <p:nvPr/>
        </p:nvCxnSpPr>
        <p:spPr>
          <a:xfrm rot="5400000">
            <a:off x="823247" y="2823489"/>
            <a:ext cx="509791" cy="231337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1C44041-7295-E5F7-2CE3-3F339836908A}"/>
              </a:ext>
            </a:extLst>
          </p:cNvPr>
          <p:cNvSpPr txBox="1"/>
          <p:nvPr/>
        </p:nvSpPr>
        <p:spPr>
          <a:xfrm>
            <a:off x="611075" y="1132806"/>
            <a:ext cx="753831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Voice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B4A62-9682-970B-0430-766BC9637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516" y="3194053"/>
            <a:ext cx="631914" cy="715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11F544-45D5-7079-DDDF-E76A874EC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061" y="2370911"/>
            <a:ext cx="1029678" cy="1138392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E081B8A-F7AC-3E48-3704-6E823E042594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3508379" y="3221970"/>
            <a:ext cx="433169" cy="2432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EFACCD4-E2D0-3599-F9D9-1A3007B1CC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06" y="1846682"/>
            <a:ext cx="893839" cy="81564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2ECB9D-F68E-2998-FF8E-FA31E438B71B}"/>
              </a:ext>
            </a:extLst>
          </p:cNvPr>
          <p:cNvSpPr/>
          <p:nvPr/>
        </p:nvSpPr>
        <p:spPr>
          <a:xfrm>
            <a:off x="1955401" y="2108688"/>
            <a:ext cx="1552978" cy="2226563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3894E-8A6F-8737-B988-78F1C4C4B6F2}"/>
              </a:ext>
            </a:extLst>
          </p:cNvPr>
          <p:cNvSpPr txBox="1"/>
          <p:nvPr/>
        </p:nvSpPr>
        <p:spPr>
          <a:xfrm>
            <a:off x="1980820" y="2213648"/>
            <a:ext cx="1490393" cy="2618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600" b="1" dirty="0"/>
              <a:t>Speech-to-Text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765F9-FFDF-9EE6-B997-F0136C5FCF3F}"/>
              </a:ext>
            </a:extLst>
          </p:cNvPr>
          <p:cNvSpPr txBox="1"/>
          <p:nvPr/>
        </p:nvSpPr>
        <p:spPr>
          <a:xfrm>
            <a:off x="524050" y="3993150"/>
            <a:ext cx="1052928" cy="4822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000"/>
              </a:lnSpc>
            </a:pPr>
            <a:r>
              <a:rPr lang="en-US" sz="1100" dirty="0"/>
              <a:t>Audio data</a:t>
            </a:r>
            <a:br>
              <a:rPr lang="en-US" sz="1100" dirty="0"/>
            </a:br>
            <a:r>
              <a:rPr lang="en-US" sz="1100" dirty="0">
                <a:latin typeface="+mj-lt"/>
              </a:rPr>
              <a:t>(</a:t>
            </a:r>
            <a:r>
              <a:rPr lang="en-US" sz="1100" dirty="0" err="1">
                <a:latin typeface="+mj-lt"/>
              </a:rPr>
              <a:t>AudioRecord</a:t>
            </a:r>
            <a:r>
              <a:rPr lang="en-US" sz="1100" dirty="0">
                <a:latin typeface="+mj-lt"/>
              </a:rPr>
              <a:t>)</a:t>
            </a:r>
            <a:br>
              <a:rPr lang="en-US" sz="1100" dirty="0"/>
            </a:br>
            <a:r>
              <a:rPr lang="en-US" sz="1100" dirty="0">
                <a:latin typeface="+mj-lt"/>
              </a:rPr>
              <a:t>(</a:t>
            </a:r>
            <a:r>
              <a:rPr lang="en-US" sz="1100" dirty="0">
                <a:latin typeface="+mj-lt"/>
                <a:ea typeface="Arial" pitchFamily="34" charset="-122"/>
                <a:cs typeface="Arial" pitchFamily="34" charset="-120"/>
              </a:rPr>
              <a:t>16 kHz PCM</a:t>
            </a:r>
            <a:r>
              <a:rPr lang="en-US" sz="1100" dirty="0">
                <a:latin typeface="+mj-lt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3F100C-9F95-8F4D-08C8-35EDB458FA83}"/>
              </a:ext>
            </a:extLst>
          </p:cNvPr>
          <p:cNvSpPr txBox="1"/>
          <p:nvPr/>
        </p:nvSpPr>
        <p:spPr>
          <a:xfrm>
            <a:off x="2136995" y="3381270"/>
            <a:ext cx="1074192" cy="8669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000"/>
              </a:lnSpc>
            </a:pPr>
            <a:r>
              <a:rPr lang="en-US" sz="1100" dirty="0"/>
              <a:t>ML Kit Gen AI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Sherpa-ONNX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Whisper</a:t>
            </a:r>
            <a:br>
              <a:rPr lang="en-US" sz="1100" dirty="0"/>
            </a:br>
            <a:r>
              <a:rPr lang="en-US" sz="1100" dirty="0"/>
              <a:t>OpenAI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Deepgram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VOSC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58AEAB2-07BD-3F3A-7440-EF44B803CA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368" y="4534926"/>
            <a:ext cx="1017492" cy="112492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FBAB0F5-9D0B-2E82-AFEB-0B073BA7864E}"/>
              </a:ext>
            </a:extLst>
          </p:cNvPr>
          <p:cNvSpPr txBox="1"/>
          <p:nvPr/>
        </p:nvSpPr>
        <p:spPr>
          <a:xfrm>
            <a:off x="10658019" y="5697578"/>
            <a:ext cx="89487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Voice Out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8D3AA4C-DFD7-0119-8797-875EC8D46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9778" y="3399035"/>
            <a:ext cx="631354" cy="714860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5C76D3E-C2A9-BA4F-2232-A8B0BD3DEC7B}"/>
              </a:ext>
            </a:extLst>
          </p:cNvPr>
          <p:cNvCxnSpPr>
            <a:cxnSpLocks/>
            <a:stCxn id="48" idx="3"/>
            <a:endCxn id="38" idx="1"/>
          </p:cNvCxnSpPr>
          <p:nvPr/>
        </p:nvCxnSpPr>
        <p:spPr>
          <a:xfrm>
            <a:off x="10137899" y="3623099"/>
            <a:ext cx="651879" cy="133366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46CD3A2-B164-F67B-8CC0-321301BF9B66}"/>
              </a:ext>
            </a:extLst>
          </p:cNvPr>
          <p:cNvCxnSpPr>
            <a:cxnSpLocks/>
            <a:stCxn id="38" idx="2"/>
          </p:cNvCxnSpPr>
          <p:nvPr/>
        </p:nvCxnSpPr>
        <p:spPr>
          <a:xfrm rot="16200000" flipH="1">
            <a:off x="10833637" y="4385713"/>
            <a:ext cx="543638" cy="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5CFF44A9-B430-09F4-B9F9-50E73125C54F}"/>
              </a:ext>
            </a:extLst>
          </p:cNvPr>
          <p:cNvCxnSpPr>
            <a:cxnSpLocks/>
            <a:stCxn id="54" idx="3"/>
            <a:endCxn id="47" idx="1"/>
          </p:cNvCxnSpPr>
          <p:nvPr/>
        </p:nvCxnSpPr>
        <p:spPr>
          <a:xfrm flipV="1">
            <a:off x="6656973" y="3625617"/>
            <a:ext cx="741625" cy="576551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2F75BE7A-E4E3-7D0E-9368-6CF83C7349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870" y="2867233"/>
            <a:ext cx="1029678" cy="1138392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7DF56B9-C038-9406-941A-1580ACEAA728}"/>
              </a:ext>
            </a:extLst>
          </p:cNvPr>
          <p:cNvSpPr/>
          <p:nvPr/>
        </p:nvSpPr>
        <p:spPr>
          <a:xfrm>
            <a:off x="8548910" y="2509817"/>
            <a:ext cx="1588989" cy="2226563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8DC3A1-B7DA-F379-138C-70FEB5BBFF20}"/>
              </a:ext>
            </a:extLst>
          </p:cNvPr>
          <p:cNvSpPr txBox="1"/>
          <p:nvPr/>
        </p:nvSpPr>
        <p:spPr>
          <a:xfrm>
            <a:off x="8560881" y="2647215"/>
            <a:ext cx="1513751" cy="2618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600" b="1" dirty="0"/>
              <a:t>Text-to-Speech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45B1BC0-E51C-C423-5733-E357537B35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139" y="3273877"/>
            <a:ext cx="1203420" cy="1330477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642B96D-8F5A-A85C-5941-845BBF90D3CD}"/>
              </a:ext>
            </a:extLst>
          </p:cNvPr>
          <p:cNvSpPr/>
          <p:nvPr/>
        </p:nvSpPr>
        <p:spPr>
          <a:xfrm>
            <a:off x="5115450" y="3005091"/>
            <a:ext cx="1541523" cy="2394153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6B35CB-A376-7757-40B4-CC4904CF24F3}"/>
              </a:ext>
            </a:extLst>
          </p:cNvPr>
          <p:cNvSpPr txBox="1"/>
          <p:nvPr/>
        </p:nvSpPr>
        <p:spPr>
          <a:xfrm>
            <a:off x="5189413" y="3133524"/>
            <a:ext cx="1402465" cy="2618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600" b="1" dirty="0"/>
              <a:t>LLM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DA5A56-EE29-36E6-2051-5D83B43A401A}"/>
              </a:ext>
            </a:extLst>
          </p:cNvPr>
          <p:cNvSpPr txBox="1"/>
          <p:nvPr/>
        </p:nvSpPr>
        <p:spPr>
          <a:xfrm>
            <a:off x="1467098" y="5297770"/>
            <a:ext cx="857833" cy="248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b="1" dirty="0"/>
              <a:t>Model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4D407D-8277-BBDB-569F-DC8961D5B5F2}"/>
              </a:ext>
            </a:extLst>
          </p:cNvPr>
          <p:cNvSpPr txBox="1"/>
          <p:nvPr/>
        </p:nvSpPr>
        <p:spPr>
          <a:xfrm>
            <a:off x="5133329" y="4454564"/>
            <a:ext cx="1458550" cy="8669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000"/>
              </a:lnSpc>
            </a:pPr>
            <a:r>
              <a:rPr lang="en-US" sz="1100" dirty="0"/>
              <a:t>OpenAI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Anthropic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Google Nano (</a:t>
            </a:r>
            <a:r>
              <a:rPr lang="en-US" sz="1100" dirty="0" err="1"/>
              <a:t>AICore</a:t>
            </a:r>
            <a:r>
              <a:rPr lang="en-US" sz="1100" dirty="0"/>
              <a:t>)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Media Pipe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XAI</a:t>
            </a:r>
            <a:br>
              <a:rPr lang="en-US" sz="1100" dirty="0"/>
            </a:br>
            <a:r>
              <a:rPr lang="en-US" sz="1100" dirty="0"/>
              <a:t>Local (Ollama)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43EF03-1CA8-6509-38AD-9D09EA565CED}"/>
              </a:ext>
            </a:extLst>
          </p:cNvPr>
          <p:cNvSpPr txBox="1"/>
          <p:nvPr/>
        </p:nvSpPr>
        <p:spPr>
          <a:xfrm>
            <a:off x="8789493" y="3941487"/>
            <a:ext cx="927882" cy="6104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000"/>
              </a:lnSpc>
            </a:pPr>
            <a:r>
              <a:rPr lang="en-US" sz="1100" dirty="0"/>
              <a:t>Eleven Labs</a:t>
            </a:r>
          </a:p>
          <a:p>
            <a:pPr>
              <a:lnSpc>
                <a:spcPts val="1000"/>
              </a:lnSpc>
            </a:pPr>
            <a:r>
              <a:rPr lang="en-US" sz="1100" dirty="0" err="1"/>
              <a:t>Cartesia</a:t>
            </a:r>
            <a:endParaRPr lang="en-US" sz="1100" dirty="0"/>
          </a:p>
          <a:p>
            <a:pPr>
              <a:lnSpc>
                <a:spcPts val="1000"/>
              </a:lnSpc>
            </a:pPr>
            <a:r>
              <a:rPr lang="en-US" sz="1100" dirty="0"/>
              <a:t>Piper</a:t>
            </a:r>
          </a:p>
          <a:p>
            <a:pPr>
              <a:lnSpc>
                <a:spcPts val="1000"/>
              </a:lnSpc>
            </a:pPr>
            <a:r>
              <a:rPr lang="en-US" sz="1100" dirty="0"/>
              <a:t>Android TTS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E213F2-E2F2-3B4A-A698-092B419B991A}"/>
              </a:ext>
            </a:extLst>
          </p:cNvPr>
          <p:cNvSpPr txBox="1"/>
          <p:nvPr/>
        </p:nvSpPr>
        <p:spPr>
          <a:xfrm>
            <a:off x="10617399" y="3031457"/>
            <a:ext cx="927882" cy="3540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000"/>
              </a:lnSpc>
            </a:pPr>
            <a:r>
              <a:rPr lang="en-US" sz="1100" dirty="0"/>
              <a:t>Audio data</a:t>
            </a:r>
            <a:br>
              <a:rPr lang="en-US" sz="1100" dirty="0"/>
            </a:br>
            <a:r>
              <a:rPr lang="en-US" sz="1100" dirty="0">
                <a:latin typeface="+mj-lt"/>
              </a:rPr>
              <a:t>(</a:t>
            </a:r>
            <a:r>
              <a:rPr lang="en-US" sz="1100" dirty="0" err="1">
                <a:latin typeface="+mj-lt"/>
              </a:rPr>
              <a:t>AudioTrack</a:t>
            </a:r>
            <a:r>
              <a:rPr lang="en-US" sz="1100" dirty="0">
                <a:latin typeface="+mj-lt"/>
              </a:rPr>
              <a:t>)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CE0B1BDB-DD1E-BE40-0E2B-D0E68D2E9C66}"/>
              </a:ext>
            </a:extLst>
          </p:cNvPr>
          <p:cNvCxnSpPr>
            <a:cxnSpLocks/>
            <a:stCxn id="55" idx="3"/>
            <a:endCxn id="48" idx="1"/>
          </p:cNvCxnSpPr>
          <p:nvPr/>
        </p:nvCxnSpPr>
        <p:spPr>
          <a:xfrm flipV="1">
            <a:off x="8041483" y="3623099"/>
            <a:ext cx="507427" cy="2802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7C082E2-8C70-27D8-320B-44792112CD46}"/>
              </a:ext>
            </a:extLst>
          </p:cNvPr>
          <p:cNvCxnSpPr>
            <a:cxnSpLocks/>
          </p:cNvCxnSpPr>
          <p:nvPr/>
        </p:nvCxnSpPr>
        <p:spPr>
          <a:xfrm>
            <a:off x="1069103" y="5401995"/>
            <a:ext cx="408238" cy="6739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030E9BB-1325-BA52-819B-B8A35D0EA021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1278430" y="3221970"/>
            <a:ext cx="676971" cy="3298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E30E7AC-ABCF-22A3-0CF5-12DBBCA1C7B3}"/>
              </a:ext>
            </a:extLst>
          </p:cNvPr>
          <p:cNvSpPr txBox="1"/>
          <p:nvPr/>
        </p:nvSpPr>
        <p:spPr>
          <a:xfrm>
            <a:off x="1494792" y="5511197"/>
            <a:ext cx="1480686" cy="248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b="1" dirty="0"/>
              <a:t>Agent Framework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D11EFFE-2A7B-B550-22ED-9E351A21A6DE}"/>
              </a:ext>
            </a:extLst>
          </p:cNvPr>
          <p:cNvCxnSpPr>
            <a:cxnSpLocks/>
          </p:cNvCxnSpPr>
          <p:nvPr/>
        </p:nvCxnSpPr>
        <p:spPr>
          <a:xfrm>
            <a:off x="1065801" y="5615422"/>
            <a:ext cx="408238" cy="6739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C7E10FDB-CB05-D939-6F31-B26FF76ABD16}"/>
              </a:ext>
            </a:extLst>
          </p:cNvPr>
          <p:cNvSpPr/>
          <p:nvPr/>
        </p:nvSpPr>
        <p:spPr>
          <a:xfrm>
            <a:off x="4927702" y="2138896"/>
            <a:ext cx="1913996" cy="3477662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7810C5D4-43E1-B111-BB59-3919E6893D7C}"/>
              </a:ext>
            </a:extLst>
          </p:cNvPr>
          <p:cNvCxnSpPr>
            <a:cxnSpLocks/>
            <a:stCxn id="29" idx="3"/>
            <a:endCxn id="54" idx="1"/>
          </p:cNvCxnSpPr>
          <p:nvPr/>
        </p:nvCxnSpPr>
        <p:spPr>
          <a:xfrm>
            <a:off x="4584433" y="3759158"/>
            <a:ext cx="531017" cy="44301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2707595-F4C0-6C90-D3D8-B33DBE705E0D}"/>
              </a:ext>
            </a:extLst>
          </p:cNvPr>
          <p:cNvSpPr/>
          <p:nvPr/>
        </p:nvSpPr>
        <p:spPr>
          <a:xfrm>
            <a:off x="5398043" y="1439892"/>
            <a:ext cx="893840" cy="9834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Picture 87" descr="The image depicts a minimalist, abstract representation of a human head with a patterned, geometric, and circuit-like design.&#10;&#10;AI-generated content may be incorrect.">
            <a:extLst>
              <a:ext uri="{FF2B5EF4-FFF2-40B4-BE49-F238E27FC236}">
                <a16:creationId xmlns:a16="http://schemas.microsoft.com/office/drawing/2014/main" id="{B0DCFDF2-DECB-1966-F9A4-BAA6094904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903" y="1482677"/>
            <a:ext cx="779594" cy="861904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A93CE20D-0816-80C2-9757-AAA717CBBB07}"/>
              </a:ext>
            </a:extLst>
          </p:cNvPr>
          <p:cNvSpPr txBox="1"/>
          <p:nvPr/>
        </p:nvSpPr>
        <p:spPr>
          <a:xfrm>
            <a:off x="5028079" y="2280028"/>
            <a:ext cx="1778672" cy="5055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b="1" dirty="0"/>
              <a:t>Open Claw</a:t>
            </a:r>
            <a:br>
              <a:rPr lang="en-US" sz="1600" b="1" dirty="0"/>
            </a:br>
            <a:r>
              <a:rPr lang="en-US" sz="1600" b="1" dirty="0"/>
              <a:t>Hermes Agent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493A70A-6223-056C-A174-7F2126E83F89}"/>
              </a:ext>
            </a:extLst>
          </p:cNvPr>
          <p:cNvGrpSpPr/>
          <p:nvPr/>
        </p:nvGrpSpPr>
        <p:grpSpPr>
          <a:xfrm>
            <a:off x="3730313" y="3268558"/>
            <a:ext cx="860842" cy="1191808"/>
            <a:chOff x="3666655" y="3405580"/>
            <a:chExt cx="860842" cy="119180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41F38-47D7-BC52-7B19-479BA5B39C1F}"/>
                </a:ext>
              </a:extLst>
            </p:cNvPr>
            <p:cNvSpPr txBox="1"/>
            <p:nvPr/>
          </p:nvSpPr>
          <p:spPr>
            <a:xfrm>
              <a:off x="3666655" y="4115140"/>
              <a:ext cx="860842" cy="4822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lnSpc>
                  <a:spcPts val="1000"/>
                </a:lnSpc>
              </a:pPr>
              <a:r>
                <a:rPr lang="en-US" sz="1100" dirty="0"/>
                <a:t>Streaming “Deltas” of User’s Text </a:t>
              </a:r>
            </a:p>
          </p:txBody>
        </p:sp>
        <p:pic>
          <p:nvPicPr>
            <p:cNvPr id="21" name="Picture 20" descr="The image depicts a black and white paper document with a folded corner, resembling an open book or a piece of paper with a visible crease.&#10;&#10;AI-generated content may be incorrect.">
              <a:extLst>
                <a:ext uri="{FF2B5EF4-FFF2-40B4-BE49-F238E27FC236}">
                  <a16:creationId xmlns:a16="http://schemas.microsoft.com/office/drawing/2014/main" id="{AEFF3ABE-4B27-433D-C2A2-EDD0CD9A6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77890" y="3405580"/>
              <a:ext cx="338085" cy="393233"/>
            </a:xfrm>
            <a:prstGeom prst="rect">
              <a:avLst/>
            </a:prstGeom>
          </p:spPr>
        </p:pic>
        <p:pic>
          <p:nvPicPr>
            <p:cNvPr id="25" name="Picture 24" descr="The image depicts a black and white paper document with a folded corner, resembling an open book or a piece of paper with a visible crease.&#10;&#10;AI-generated content may be incorrect.">
              <a:extLst>
                <a:ext uri="{FF2B5EF4-FFF2-40B4-BE49-F238E27FC236}">
                  <a16:creationId xmlns:a16="http://schemas.microsoft.com/office/drawing/2014/main" id="{1BE30A62-E559-160C-8304-B2CB4C515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30290" y="3547163"/>
              <a:ext cx="338085" cy="393233"/>
            </a:xfrm>
            <a:prstGeom prst="rect">
              <a:avLst/>
            </a:prstGeom>
          </p:spPr>
        </p:pic>
        <p:pic>
          <p:nvPicPr>
            <p:cNvPr id="29" name="Picture 28" descr="The image depicts a black and white paper document with a folded corner, resembling an open book or a piece of paper with a visible crease.&#10;&#10;AI-generated content may be incorrect.">
              <a:extLst>
                <a:ext uri="{FF2B5EF4-FFF2-40B4-BE49-F238E27FC236}">
                  <a16:creationId xmlns:a16="http://schemas.microsoft.com/office/drawing/2014/main" id="{0316314A-7891-D5E8-B85D-00FF475AB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182690" y="3699563"/>
              <a:ext cx="338085" cy="393233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A090115-C4C9-007D-0544-57F51A9B2419}"/>
              </a:ext>
            </a:extLst>
          </p:cNvPr>
          <p:cNvGrpSpPr/>
          <p:nvPr/>
        </p:nvGrpSpPr>
        <p:grpSpPr>
          <a:xfrm>
            <a:off x="7211350" y="3429000"/>
            <a:ext cx="1026376" cy="1167143"/>
            <a:chOff x="7183320" y="3689090"/>
            <a:chExt cx="1026376" cy="116714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AD87E3B-C7B8-3A9D-6126-261105C4B99A}"/>
                </a:ext>
              </a:extLst>
            </p:cNvPr>
            <p:cNvSpPr txBox="1"/>
            <p:nvPr/>
          </p:nvSpPr>
          <p:spPr>
            <a:xfrm>
              <a:off x="7183320" y="4373985"/>
              <a:ext cx="1026376" cy="4822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n-US" sz="1100" dirty="0"/>
                <a:t>Streaming “Deltas” of LLM Response </a:t>
              </a:r>
            </a:p>
          </p:txBody>
        </p:sp>
        <p:pic>
          <p:nvPicPr>
            <p:cNvPr id="47" name="Picture 46" descr="The image depicts a black and white paper document with a folded corner, resembling an open book or a piece of paper with a visible crease.&#10;&#10;AI-generated content may be incorrect.">
              <a:extLst>
                <a:ext uri="{FF2B5EF4-FFF2-40B4-BE49-F238E27FC236}">
                  <a16:creationId xmlns:a16="http://schemas.microsoft.com/office/drawing/2014/main" id="{8E9E87FE-FC5D-2608-D78B-7BBE20CB6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70568" y="3689090"/>
              <a:ext cx="338085" cy="393233"/>
            </a:xfrm>
            <a:prstGeom prst="rect">
              <a:avLst/>
            </a:prstGeom>
          </p:spPr>
        </p:pic>
        <p:pic>
          <p:nvPicPr>
            <p:cNvPr id="51" name="Picture 50" descr="The image depicts a black and white paper document with a folded corner, resembling an open book or a piece of paper with a visible crease.&#10;&#10;AI-generated content may be incorrect.">
              <a:extLst>
                <a:ext uri="{FF2B5EF4-FFF2-40B4-BE49-F238E27FC236}">
                  <a16:creationId xmlns:a16="http://schemas.microsoft.com/office/drawing/2014/main" id="{8A12C8A1-DBAF-4EB5-312A-FC4A02CCE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522968" y="3841490"/>
              <a:ext cx="338085" cy="393233"/>
            </a:xfrm>
            <a:prstGeom prst="rect">
              <a:avLst/>
            </a:prstGeom>
          </p:spPr>
        </p:pic>
        <p:pic>
          <p:nvPicPr>
            <p:cNvPr id="55" name="Picture 54" descr="The image depicts a black and white paper document with a folded corner, resembling an open book or a piece of paper with a visible crease.&#10;&#10;AI-generated content may be incorrect.">
              <a:extLst>
                <a:ext uri="{FF2B5EF4-FFF2-40B4-BE49-F238E27FC236}">
                  <a16:creationId xmlns:a16="http://schemas.microsoft.com/office/drawing/2014/main" id="{8C549729-A282-09BF-222F-075FFCB63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675368" y="3966832"/>
              <a:ext cx="338085" cy="393233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7CE78F4-615E-2A7A-849E-81428B11D93E}"/>
              </a:ext>
            </a:extLst>
          </p:cNvPr>
          <p:cNvSpPr txBox="1"/>
          <p:nvPr/>
        </p:nvSpPr>
        <p:spPr>
          <a:xfrm>
            <a:off x="2072798" y="4428356"/>
            <a:ext cx="1480686" cy="5629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• Latency</a:t>
            </a:r>
            <a:b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</a:b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•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Accuracy</a:t>
            </a:r>
            <a:b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</a:b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•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Turn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485E39-BFAF-2D32-8E6E-294DD5784DA7}"/>
              </a:ext>
            </a:extLst>
          </p:cNvPr>
          <p:cNvSpPr txBox="1"/>
          <p:nvPr/>
        </p:nvSpPr>
        <p:spPr>
          <a:xfrm>
            <a:off x="5189413" y="5705802"/>
            <a:ext cx="1230236" cy="5629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•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Latency</a:t>
            </a:r>
            <a:b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</a:b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•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Capability</a:t>
            </a:r>
            <a:b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</a:b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•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516AA-BAD2-D2D9-3B0D-32731A36C2B5}"/>
              </a:ext>
            </a:extLst>
          </p:cNvPr>
          <p:cNvSpPr txBox="1"/>
          <p:nvPr/>
        </p:nvSpPr>
        <p:spPr>
          <a:xfrm>
            <a:off x="1319651" y="5747335"/>
            <a:ext cx="1704621" cy="2426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000"/>
              </a:lnSpc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• 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Key Concern</a:t>
            </a:r>
            <a:endParaRPr lang="en-US" sz="1600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E789B-B1D6-F9F9-91B9-232A8571586B}"/>
              </a:ext>
            </a:extLst>
          </p:cNvPr>
          <p:cNvSpPr txBox="1"/>
          <p:nvPr/>
        </p:nvSpPr>
        <p:spPr>
          <a:xfrm>
            <a:off x="8704126" y="4859461"/>
            <a:ext cx="1588990" cy="4090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• Voice       </a:t>
            </a:r>
            <a:b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</a:b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 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834645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5DD17-DE0C-45AD-717C-008130D9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">
            <a:extLst>
              <a:ext uri="{FF2B5EF4-FFF2-40B4-BE49-F238E27FC236}">
                <a16:creationId xmlns:a16="http://schemas.microsoft.com/office/drawing/2014/main" id="{F01EB8E7-38E4-D2CE-F694-17824A8140BD}"/>
              </a:ext>
            </a:extLst>
          </p:cNvPr>
          <p:cNvSpPr/>
          <p:nvPr/>
        </p:nvSpPr>
        <p:spPr>
          <a:xfrm>
            <a:off x="594360" y="32000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PIPELINE PERFORMANCE</a:t>
            </a:r>
            <a:endParaRPr lang="en-US" sz="10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18E6A6B-A78F-08B9-8A3C-3966F0150AF2}"/>
              </a:ext>
            </a:extLst>
          </p:cNvPr>
          <p:cNvSpPr/>
          <p:nvPr/>
        </p:nvSpPr>
        <p:spPr>
          <a:xfrm>
            <a:off x="594360" y="640000"/>
            <a:ext cx="3610847" cy="6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5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B335FEC4-3BBB-7644-DE80-60AC507859A5}"/>
              </a:ext>
            </a:extLst>
          </p:cNvPr>
          <p:cNvSpPr/>
          <p:nvPr/>
        </p:nvSpPr>
        <p:spPr>
          <a:xfrm>
            <a:off x="918020" y="1634951"/>
            <a:ext cx="4973200" cy="1356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3200" i="1" kern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Makes or breaks your voice app — the true feel of the experience.</a:t>
            </a:r>
          </a:p>
        </p:txBody>
      </p:sp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42DD1787-73A8-6138-0CAA-71645780F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004377"/>
              </p:ext>
            </p:extLst>
          </p:nvPr>
        </p:nvGraphicFramePr>
        <p:xfrm>
          <a:off x="6753875" y="640000"/>
          <a:ext cx="4336009" cy="55168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057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(ms)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Mic Capture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Encoding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Stack &amp; Transmit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Handling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 Buffer &amp; Opus Decoding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 (STT) &amp; Endpointing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TTFT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Aggregation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TTS TTFB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Encoding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Handling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Stack &amp; Transmit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 Buffer &amp; Opus Decoding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Speaker Output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3" name="Text 5">
            <a:extLst>
              <a:ext uri="{FF2B5EF4-FFF2-40B4-BE49-F238E27FC236}">
                <a16:creationId xmlns:a16="http://schemas.microsoft.com/office/drawing/2014/main" id="{191524A5-7932-DD50-6659-14E7E1450386}"/>
              </a:ext>
            </a:extLst>
          </p:cNvPr>
          <p:cNvSpPr/>
          <p:nvPr/>
        </p:nvSpPr>
        <p:spPr>
          <a:xfrm>
            <a:off x="3685785" y="4861797"/>
            <a:ext cx="1749166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ms</a:t>
            </a:r>
            <a:endParaRPr lang="en-US" sz="28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3980E06-250D-B7A3-55A3-4B0CD2DF0930}"/>
              </a:ext>
            </a:extLst>
          </p:cNvPr>
          <p:cNvSpPr/>
          <p:nvPr/>
        </p:nvSpPr>
        <p:spPr>
          <a:xfrm>
            <a:off x="745858" y="4955152"/>
            <a:ext cx="3187685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i="1" kern="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 voice systems</a:t>
            </a:r>
            <a:r>
              <a:rPr lang="en-US" sz="2000" i="1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—</a:t>
            </a:r>
            <a:endParaRPr lang="en-US" sz="20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E3CF5FD4-9A2B-7604-186B-60BAE1514EC3}"/>
              </a:ext>
            </a:extLst>
          </p:cNvPr>
          <p:cNvSpPr/>
          <p:nvPr/>
        </p:nvSpPr>
        <p:spPr>
          <a:xfrm>
            <a:off x="5829976" y="6221027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"Voice AI and Voice Agents" — Pipecat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D769D-5A7A-EFF6-0DE6-2AC6CEE78E1C}"/>
              </a:ext>
            </a:extLst>
          </p:cNvPr>
          <p:cNvSpPr txBox="1"/>
          <p:nvPr/>
        </p:nvSpPr>
        <p:spPr>
          <a:xfrm>
            <a:off x="831003" y="3802145"/>
            <a:ext cx="4770417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kern="0" spc="200" dirty="0">
                <a:solidFill>
                  <a:schemeClr val="accent4"/>
                </a:solidFill>
                <a:ea typeface="Calibri" pitchFamily="34" charset="-122"/>
                <a:cs typeface="Calibri" pitchFamily="34" charset="-120"/>
              </a:rPr>
              <a:t>TTFT = Time to First Token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3BB3F51C-8C55-A57D-9458-0F65BD28B616}"/>
              </a:ext>
            </a:extLst>
          </p:cNvPr>
          <p:cNvSpPr/>
          <p:nvPr/>
        </p:nvSpPr>
        <p:spPr>
          <a:xfrm>
            <a:off x="6402048" y="2721557"/>
            <a:ext cx="346416" cy="643868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6753891-11AE-6589-E442-5E265A7817E6}"/>
              </a:ext>
            </a:extLst>
          </p:cNvPr>
          <p:cNvCxnSpPr>
            <a:stCxn id="5" idx="1"/>
            <a:endCxn id="23" idx="3"/>
          </p:cNvCxnSpPr>
          <p:nvPr/>
        </p:nvCxnSpPr>
        <p:spPr>
          <a:xfrm rot="10800000" flipV="1">
            <a:off x="5434952" y="3043491"/>
            <a:ext cx="967097" cy="206830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 12">
            <a:extLst>
              <a:ext uri="{FF2B5EF4-FFF2-40B4-BE49-F238E27FC236}">
                <a16:creationId xmlns:a16="http://schemas.microsoft.com/office/drawing/2014/main" id="{CE7567EF-248A-F1AD-52FF-085C7885F69D}"/>
              </a:ext>
            </a:extLst>
          </p:cNvPr>
          <p:cNvSpPr/>
          <p:nvPr/>
        </p:nvSpPr>
        <p:spPr>
          <a:xfrm>
            <a:off x="579645" y="5449741"/>
            <a:ext cx="5649950" cy="768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Each Demo App has a Latency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Class to measure this Critical Value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69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YOUR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6860"/>
            <a:ext cx="58053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— the Voice AI Brain</a:t>
            </a:r>
            <a:endParaRPr lang="en-US" sz="3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069892"/>
              </p:ext>
            </p:extLst>
          </p:nvPr>
        </p:nvGraphicFramePr>
        <p:xfrm>
          <a:off x="6839061" y="596931"/>
          <a:ext cx="4435653" cy="5394960"/>
        </p:xfrm>
        <a:graphic>
          <a:graphicData uri="http://schemas.openxmlformats.org/drawingml/2006/table">
            <a:tbl>
              <a:tblPr/>
              <a:tblGrid>
                <a:gridCol w="1969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TTFT (ms)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</a:t>
                      </a:r>
                      <a:b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3-Min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GPT-4.1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536</a:t>
                      </a: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$0.32</a:t>
                      </a: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GPT-5.1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739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$0.10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1224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2.0 Flash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$0.004</a:t>
                      </a: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Gemini 2.5 Flash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597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$0.002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22535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Gemini Nano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Llama 4 Maverick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290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0693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Claude 4.5 Haiku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637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$0.006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1681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3.7 Sonnet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1,410</a:t>
                      </a: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Claude 4.6 Sonnet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850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$0.018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8275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Kimi 2.6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Cerebrus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452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4229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Grok-4-fast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2009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Qwen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8281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Nemotron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 3 Ultra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541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27355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960317" y="6123909"/>
            <a:ext cx="45628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"Voice AI and Voice Agents" — Pipecat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BFC863F-4083-24C3-39A5-67693652D0A5}"/>
              </a:ext>
            </a:extLst>
          </p:cNvPr>
          <p:cNvSpPr/>
          <p:nvPr/>
        </p:nvSpPr>
        <p:spPr>
          <a:xfrm>
            <a:off x="519284" y="1645825"/>
            <a:ext cx="5609908" cy="4443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The LLM is the perceived intelligence of your Agent.</a:t>
            </a:r>
          </a:p>
          <a:p>
            <a:pPr marL="285750" indent="-28575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Most widely used models for voice agents are GPT-4.1, GPT-5.1, and Gemini 2.5 Flash.</a:t>
            </a:r>
          </a:p>
          <a:p>
            <a:pPr marL="285750" indent="-28575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Avoid Reasoning models.</a:t>
            </a:r>
          </a:p>
          <a:p>
            <a:pPr marL="285750" indent="-28575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Not all models are optimized for latency (Sonnet 3.7 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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).</a:t>
            </a:r>
            <a:br>
              <a:rPr lang="en-US" sz="3200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</a:br>
            <a:endParaRPr lang="en-US" sz="3200" dirty="0">
              <a:solidFill>
                <a:schemeClr val="bg1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285750" indent="-28575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Arial" pitchFamily="34" charset="-120"/>
              </a:rPr>
              <a:t>It’s Always a Tradeoff</a:t>
            </a:r>
            <a:endParaRPr lang="en-US" sz="4000" b="1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pic>
        <p:nvPicPr>
          <p:cNvPr id="5" name="Picture 4" descr="Cliff&#10;&#10;AI-generated content may be incorrect.">
            <a:extLst>
              <a:ext uri="{FF2B5EF4-FFF2-40B4-BE49-F238E27FC236}">
                <a16:creationId xmlns:a16="http://schemas.microsoft.com/office/drawing/2014/main" id="{1775BB57-49BD-3615-992C-DDF786B8A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506" y="4146067"/>
            <a:ext cx="496811" cy="415031"/>
          </a:xfrm>
          <a:prstGeom prst="rect">
            <a:avLst/>
          </a:prstGeom>
        </p:spPr>
      </p:pic>
      <p:pic>
        <p:nvPicPr>
          <p:cNvPr id="13" name="Picture 12" descr="Cliff&#10;&#10;AI-generated content may be incorrect.">
            <a:extLst>
              <a:ext uri="{FF2B5EF4-FFF2-40B4-BE49-F238E27FC236}">
                <a16:creationId xmlns:a16="http://schemas.microsoft.com/office/drawing/2014/main" id="{4679D414-55BA-BB18-13A8-2D360DB4D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506" y="3426862"/>
            <a:ext cx="496811" cy="415031"/>
          </a:xfrm>
          <a:prstGeom prst="rect">
            <a:avLst/>
          </a:prstGeom>
        </p:spPr>
      </p:pic>
      <p:pic>
        <p:nvPicPr>
          <p:cNvPr id="6" name="Picture 5" descr="The image depicts a simple, green circular shape with a stylized, curved, upward-pointing symbol, resembling an arrow or an upward-pointing line.&#10;&#10;AI-generated content may be incorrect.">
            <a:extLst>
              <a:ext uri="{FF2B5EF4-FFF2-40B4-BE49-F238E27FC236}">
                <a16:creationId xmlns:a16="http://schemas.microsoft.com/office/drawing/2014/main" id="{D7A775C3-097C-6D16-E53B-68D97467D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506" y="1205500"/>
            <a:ext cx="490683" cy="413314"/>
          </a:xfrm>
          <a:prstGeom prst="rect">
            <a:avLst/>
          </a:prstGeom>
        </p:spPr>
      </p:pic>
      <p:pic>
        <p:nvPicPr>
          <p:cNvPr id="8" name="Picture 7" descr="GVP&#10;&#10;AI-generated content may be incorrect.">
            <a:extLst>
              <a:ext uri="{FF2B5EF4-FFF2-40B4-BE49-F238E27FC236}">
                <a16:creationId xmlns:a16="http://schemas.microsoft.com/office/drawing/2014/main" id="{C1F69A0C-5E6D-190E-2A15-CF9A45076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815" y="2651244"/>
            <a:ext cx="639844" cy="4638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99" y="218586"/>
            <a:ext cx="112744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Tradeoffs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30827"/>
              </p:ext>
            </p:extLst>
          </p:nvPr>
        </p:nvGraphicFramePr>
        <p:xfrm>
          <a:off x="452876" y="891056"/>
          <a:ext cx="11247118" cy="4431792"/>
        </p:xfrm>
        <a:graphic>
          <a:graphicData uri="http://schemas.openxmlformats.org/drawingml/2006/table">
            <a:tbl>
              <a:tblPr/>
              <a:tblGrid>
                <a:gridCol w="1984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2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85D7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(GVP)</a:t>
                      </a:r>
                      <a:endParaRPr lang="en-US" sz="2400" b="1" dirty="0">
                        <a:solidFill>
                          <a:srgbClr val="85D7FC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B87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(Cliff)</a:t>
                      </a:r>
                      <a:endParaRPr lang="en-US" sz="2400" b="1" dirty="0">
                        <a:solidFill>
                          <a:srgbClr val="FB874C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7CDC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(Pipecat)</a:t>
                      </a:r>
                      <a:endParaRPr lang="en-US" sz="2400" b="1" dirty="0">
                        <a:solidFill>
                          <a:srgbClr val="7CDC85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runs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device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providers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Pipecat server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(fully offline)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(WebSocket + HTTPS)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(P2P WebRTC)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STT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Kit GenAI, Sherpa-ONNX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Deepgram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flux-general-multi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Deepgram Nova-3 (server)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/ Brain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Core Nano,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MediaPipe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 4.5/4.6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OpenClaw (GPT4-1)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TTS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TextToSpeech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Deepgram Aura-2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Cartesia Sonic-2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Sub-650ms (device HW)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~700-1500ms (network)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~850ms (GPU baseline) + Tools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minSdk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= 31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minSDK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= 26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minSDK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= 26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56993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model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needed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Ephemeral tokens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(trusted network)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Privacy, offline, zero cost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quality, production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frameworks, tool calls, memory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complexity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pipeline on device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 + SSE streaming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 — mic + speaker only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015563"/>
            <a:ext cx="11247120" cy="502920"/>
          </a:xfrm>
          <a:prstGeom prst="roundRect">
            <a:avLst>
              <a:gd name="adj" fmla="val 14545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601015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solution depends on YOUR requirements.</a:t>
            </a:r>
            <a:endParaRPr lang="en-US" sz="2800" b="1" dirty="0">
              <a:solidFill>
                <a:schemeClr val="accent4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66EC312-4E16-7E01-964D-A1CEFEE9D6C4}"/>
              </a:ext>
            </a:extLst>
          </p:cNvPr>
          <p:cNvSpPr/>
          <p:nvPr/>
        </p:nvSpPr>
        <p:spPr>
          <a:xfrm>
            <a:off x="775787" y="5474021"/>
            <a:ext cx="107212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kern="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</a:t>
            </a:r>
            <a:endParaRPr lang="en-US" sz="16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FC170F0-CF8B-3F46-AD11-F32F60444FB1}"/>
              </a:ext>
            </a:extLst>
          </p:cNvPr>
          <p:cNvSpPr/>
          <p:nvPr/>
        </p:nvSpPr>
        <p:spPr>
          <a:xfrm>
            <a:off x="1847907" y="5479361"/>
            <a:ext cx="9502181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UI</a:t>
            </a:r>
            <a:r>
              <a:rPr lang="en-US" sz="900" b="1" kern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</a:t>
            </a:r>
            <a:r>
              <a:rPr lang="en-US" sz="1200" kern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Compose+Material</a:t>
            </a:r>
            <a:r>
              <a:rPr lang="en-US" sz="1200" kern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3, </a:t>
            </a:r>
            <a:r>
              <a:rPr lang="en-US" sz="1200" b="1" kern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State</a:t>
            </a:r>
            <a:r>
              <a:rPr lang="en-US" sz="900" b="1" kern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</a:t>
            </a:r>
            <a:r>
              <a:rPr lang="en-US" sz="1200" kern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Kotlin </a:t>
            </a:r>
            <a:r>
              <a:rPr lang="en-US" sz="1200" kern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Coroutines+Flow</a:t>
            </a:r>
            <a:r>
              <a:rPr lang="en-US" sz="1200" kern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MVVM, </a:t>
            </a:r>
            <a:r>
              <a:rPr lang="en-US" sz="1200" b="1" kern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Audio</a:t>
            </a:r>
            <a:r>
              <a:rPr lang="en-US" sz="900" b="1" kern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</a:t>
            </a:r>
            <a:r>
              <a:rPr lang="en-US" sz="1200" kern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AudioRecord</a:t>
            </a:r>
            <a:r>
              <a:rPr lang="en-US" sz="1200" kern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+ </a:t>
            </a:r>
            <a:r>
              <a:rPr lang="en-US" sz="1200" kern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AudioTrack</a:t>
            </a:r>
            <a:r>
              <a:rPr lang="en-US" sz="1200" kern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200" b="1" kern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Storage</a:t>
            </a:r>
            <a:r>
              <a:rPr lang="en-US" sz="900" b="1" kern="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</a:t>
            </a:r>
            <a:r>
              <a:rPr lang="en-US" sz="1200" kern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Room DB + </a:t>
            </a:r>
            <a:r>
              <a:rPr lang="en-US" sz="1200" kern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SharedPrefs</a:t>
            </a:r>
            <a:r>
              <a:rPr lang="en-US" sz="1200" kern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 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9BC1E-D6EC-CD3E-62FB-11140FA5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9">
            <a:extLst>
              <a:ext uri="{FF2B5EF4-FFF2-40B4-BE49-F238E27FC236}">
                <a16:creationId xmlns:a16="http://schemas.microsoft.com/office/drawing/2014/main" id="{073555C0-BA56-5059-112A-D8978640D174}"/>
              </a:ext>
            </a:extLst>
          </p:cNvPr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D98235-12F2-FE0C-8D57-16FC72A0A656}"/>
              </a:ext>
            </a:extLst>
          </p:cNvPr>
          <p:cNvSpPr/>
          <p:nvPr/>
        </p:nvSpPr>
        <p:spPr>
          <a:xfrm>
            <a:off x="457199" y="569471"/>
            <a:ext cx="11247120" cy="642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cs typeface="Arial" pitchFamily="34" charset="-120"/>
              </a:rPr>
              <a:t>Local (GVP)</a:t>
            </a:r>
            <a:endParaRPr lang="en-US" sz="4000" b="1" dirty="0"/>
          </a:p>
        </p:txBody>
      </p:sp>
      <p:pic>
        <p:nvPicPr>
          <p:cNvPr id="4" name="Picture 3" descr="GVP&#10;&#10;AI-generated content may be incorrect.">
            <a:extLst>
              <a:ext uri="{FF2B5EF4-FFF2-40B4-BE49-F238E27FC236}">
                <a16:creationId xmlns:a16="http://schemas.microsoft.com/office/drawing/2014/main" id="{D2DD690D-597F-6B48-82F1-F320054A3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368" y="1392734"/>
            <a:ext cx="1014781" cy="735717"/>
          </a:xfrm>
          <a:prstGeom prst="rect">
            <a:avLst/>
          </a:prstGeom>
        </p:spPr>
      </p:pic>
      <p:sp>
        <p:nvSpPr>
          <p:cNvPr id="9" name="Text 12">
            <a:extLst>
              <a:ext uri="{FF2B5EF4-FFF2-40B4-BE49-F238E27FC236}">
                <a16:creationId xmlns:a16="http://schemas.microsoft.com/office/drawing/2014/main" id="{099A4DEF-BBF8-CAEB-6100-E65C3F8EF356}"/>
              </a:ext>
            </a:extLst>
          </p:cNvPr>
          <p:cNvSpPr/>
          <p:nvPr/>
        </p:nvSpPr>
        <p:spPr>
          <a:xfrm>
            <a:off x="1130296" y="2360854"/>
            <a:ext cx="9616620" cy="4220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Completely on-device </a:t>
            </a:r>
            <a:r>
              <a:rPr lang="en-US" sz="2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no cloud, no network, no problem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AA6E08F-3A21-FFA3-2E17-CE030A958494}"/>
              </a:ext>
            </a:extLst>
          </p:cNvPr>
          <p:cNvSpPr/>
          <p:nvPr/>
        </p:nvSpPr>
        <p:spPr>
          <a:xfrm>
            <a:off x="4146577" y="4463786"/>
            <a:ext cx="3982239" cy="823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Core Nano</a:t>
            </a:r>
            <a:b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ML-Kit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9BCA82AA-4BB2-CC06-B237-761216F22903}"/>
              </a:ext>
            </a:extLst>
          </p:cNvPr>
          <p:cNvSpPr/>
          <p:nvPr/>
        </p:nvSpPr>
        <p:spPr>
          <a:xfrm>
            <a:off x="822817" y="4463786"/>
            <a:ext cx="2769857" cy="73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Kit GenAI (expr)</a:t>
            </a:r>
            <a:b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Sherpa-ONNX (multi)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2FC309-602D-D9AE-F9A5-9831D8E5DA72}"/>
              </a:ext>
            </a:extLst>
          </p:cNvPr>
          <p:cNvSpPr txBox="1"/>
          <p:nvPr/>
        </p:nvSpPr>
        <p:spPr>
          <a:xfrm>
            <a:off x="1631347" y="3622642"/>
            <a:ext cx="115279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STT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6CB92F-FBE4-6C5D-91C9-93C8FC7000C8}"/>
              </a:ext>
            </a:extLst>
          </p:cNvPr>
          <p:cNvSpPr txBox="1"/>
          <p:nvPr/>
        </p:nvSpPr>
        <p:spPr>
          <a:xfrm>
            <a:off x="5548977" y="3622642"/>
            <a:ext cx="115279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LLM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005E2-6812-5223-3B81-74895B011D5A}"/>
              </a:ext>
            </a:extLst>
          </p:cNvPr>
          <p:cNvSpPr txBox="1"/>
          <p:nvPr/>
        </p:nvSpPr>
        <p:spPr>
          <a:xfrm>
            <a:off x="9334403" y="3622642"/>
            <a:ext cx="115279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TTS</a:t>
            </a: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DD4743B-E817-FAC7-57A9-027FF05FD1D4}"/>
              </a:ext>
            </a:extLst>
          </p:cNvPr>
          <p:cNvSpPr/>
          <p:nvPr/>
        </p:nvSpPr>
        <p:spPr>
          <a:xfrm>
            <a:off x="8539306" y="4463786"/>
            <a:ext cx="2769857" cy="73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Android TTS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01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1611D3-D137-F2E4-EC35-F3A9D3F5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BBA2EF4-45AF-AAD9-F42B-9AACE16E0452}"/>
              </a:ext>
            </a:extLst>
          </p:cNvPr>
          <p:cNvSpPr/>
          <p:nvPr/>
        </p:nvSpPr>
        <p:spPr>
          <a:xfrm>
            <a:off x="557201" y="411480"/>
            <a:ext cx="2053342" cy="943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GVP App Settings</a:t>
            </a:r>
            <a:endParaRPr lang="en-US" sz="2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BFD5535-D1CF-FBAF-DF7F-78192887A754}"/>
              </a:ext>
            </a:extLst>
          </p:cNvPr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pic>
        <p:nvPicPr>
          <p:cNvPr id="24" name="Picture 23" descr="The image is a mobile device's settings menu displaying language model options for an inference pipeline.&#10;&#10;AI-generated content may be incorrect.">
            <a:extLst>
              <a:ext uri="{FF2B5EF4-FFF2-40B4-BE49-F238E27FC236}">
                <a16:creationId xmlns:a16="http://schemas.microsoft.com/office/drawing/2014/main" id="{36F7A378-333F-1B06-DE48-17D56CC38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086" y="411480"/>
            <a:ext cx="3049996" cy="6035040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26" name="Picture 25" descr="The image shows a phone or device settings screen, specifically the text-to-speech (TTS) options, with various configurations for voice settings, sensitivity, and barge-in threshold.&#10;&#10;AI-generated content may be incorrect.">
            <a:extLst>
              <a:ext uri="{FF2B5EF4-FFF2-40B4-BE49-F238E27FC236}">
                <a16:creationId xmlns:a16="http://schemas.microsoft.com/office/drawing/2014/main" id="{605360FF-A34D-95BC-8439-CA11FE7FD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704" y="411480"/>
            <a:ext cx="3058585" cy="6035040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28" name="Text 23">
            <a:extLst>
              <a:ext uri="{FF2B5EF4-FFF2-40B4-BE49-F238E27FC236}">
                <a16:creationId xmlns:a16="http://schemas.microsoft.com/office/drawing/2014/main" id="{97CC6469-AA4B-A56A-838E-B77328EDBB8A}"/>
              </a:ext>
            </a:extLst>
          </p:cNvPr>
          <p:cNvSpPr/>
          <p:nvPr/>
        </p:nvSpPr>
        <p:spPr>
          <a:xfrm>
            <a:off x="220788" y="2124228"/>
            <a:ext cx="27550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 (LLM)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3CD611B9-45BC-3411-4313-84E0DC9A87E6}"/>
              </a:ext>
            </a:extLst>
          </p:cNvPr>
          <p:cNvSpPr/>
          <p:nvPr/>
        </p:nvSpPr>
        <p:spPr>
          <a:xfrm>
            <a:off x="241629" y="2547274"/>
            <a:ext cx="2463113" cy="1119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AICore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Nano (Pixel/G5)</a:t>
            </a:r>
          </a:p>
          <a:p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b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Models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476CB9-3D4E-26B0-8535-BC0C8DCAC99D}"/>
              </a:ext>
            </a:extLst>
          </p:cNvPr>
          <p:cNvCxnSpPr>
            <a:cxnSpLocks/>
          </p:cNvCxnSpPr>
          <p:nvPr/>
        </p:nvCxnSpPr>
        <p:spPr>
          <a:xfrm flipV="1">
            <a:off x="2541492" y="2612916"/>
            <a:ext cx="2028592" cy="170673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922A46-1B87-CDDA-4161-D5605A4399F8}"/>
              </a:ext>
            </a:extLst>
          </p:cNvPr>
          <p:cNvCxnSpPr>
            <a:cxnSpLocks/>
          </p:cNvCxnSpPr>
          <p:nvPr/>
        </p:nvCxnSpPr>
        <p:spPr>
          <a:xfrm>
            <a:off x="2306476" y="3489146"/>
            <a:ext cx="896629" cy="43586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0" name="Text 23">
            <a:extLst>
              <a:ext uri="{FF2B5EF4-FFF2-40B4-BE49-F238E27FC236}">
                <a16:creationId xmlns:a16="http://schemas.microsoft.com/office/drawing/2014/main" id="{FA3DA3C3-D0E2-1792-14FD-2E0C77287EA4}"/>
              </a:ext>
            </a:extLst>
          </p:cNvPr>
          <p:cNvSpPr/>
          <p:nvPr/>
        </p:nvSpPr>
        <p:spPr>
          <a:xfrm>
            <a:off x="243594" y="4272867"/>
            <a:ext cx="26257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0FE1C71A-C56B-17C7-1585-3A53D616A7E9}"/>
              </a:ext>
            </a:extLst>
          </p:cNvPr>
          <p:cNvSpPr/>
          <p:nvPr/>
        </p:nvSpPr>
        <p:spPr>
          <a:xfrm>
            <a:off x="252986" y="4734320"/>
            <a:ext cx="2473550" cy="1055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Sherpa/ONNX </a:t>
            </a:r>
            <a:b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Models</a:t>
            </a:r>
          </a:p>
          <a:p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GenAI (Pixel/G5)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74EFC2-56C7-454E-7C54-FD41CD3A8146}"/>
              </a:ext>
            </a:extLst>
          </p:cNvPr>
          <p:cNvCxnSpPr>
            <a:cxnSpLocks/>
          </p:cNvCxnSpPr>
          <p:nvPr/>
        </p:nvCxnSpPr>
        <p:spPr>
          <a:xfrm>
            <a:off x="1953245" y="5150940"/>
            <a:ext cx="1207834" cy="15609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18F6272-8766-05D6-1367-C3F945D1DD78}"/>
              </a:ext>
            </a:extLst>
          </p:cNvPr>
          <p:cNvCxnSpPr>
            <a:cxnSpLocks/>
          </p:cNvCxnSpPr>
          <p:nvPr/>
        </p:nvCxnSpPr>
        <p:spPr>
          <a:xfrm>
            <a:off x="2353633" y="5627077"/>
            <a:ext cx="3176052" cy="39497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4" name="Text 23">
            <a:extLst>
              <a:ext uri="{FF2B5EF4-FFF2-40B4-BE49-F238E27FC236}">
                <a16:creationId xmlns:a16="http://schemas.microsoft.com/office/drawing/2014/main" id="{E10F3A28-774B-DC5E-CF9B-4900EC193978}"/>
              </a:ext>
            </a:extLst>
          </p:cNvPr>
          <p:cNvSpPr/>
          <p:nvPr/>
        </p:nvSpPr>
        <p:spPr>
          <a:xfrm>
            <a:off x="9625548" y="968658"/>
            <a:ext cx="1908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A975BA7B-A526-7DAF-A5A1-E5DEE0A71424}"/>
              </a:ext>
            </a:extLst>
          </p:cNvPr>
          <p:cNvSpPr/>
          <p:nvPr/>
        </p:nvSpPr>
        <p:spPr>
          <a:xfrm>
            <a:off x="9772161" y="1439243"/>
            <a:ext cx="1772584" cy="583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TTS </a:t>
            </a:r>
            <a:b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Voice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31FC207-FAA1-4E21-D5B5-AD79DC9C80A5}"/>
              </a:ext>
            </a:extLst>
          </p:cNvPr>
          <p:cNvCxnSpPr>
            <a:cxnSpLocks/>
          </p:cNvCxnSpPr>
          <p:nvPr/>
        </p:nvCxnSpPr>
        <p:spPr>
          <a:xfrm flipH="1">
            <a:off x="8554239" y="1866675"/>
            <a:ext cx="1498750" cy="27361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030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/>
          <p:cNvSpPr/>
          <p:nvPr/>
        </p:nvSpPr>
        <p:spPr>
          <a:xfrm>
            <a:off x="-64928" y="0"/>
            <a:ext cx="12253753" cy="68631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1"/>
          <p:cNvSpPr/>
          <p:nvPr/>
        </p:nvSpPr>
        <p:spPr>
          <a:xfrm>
            <a:off x="502920" y="159722"/>
            <a:ext cx="11274552" cy="705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GVP App Overview</a:t>
            </a:r>
            <a:endParaRPr lang="en-US" sz="4400" dirty="0"/>
          </a:p>
        </p:txBody>
      </p:sp>
      <p:sp>
        <p:nvSpPr>
          <p:cNvPr id="15" name="Text 4"/>
          <p:cNvSpPr/>
          <p:nvPr/>
        </p:nvSpPr>
        <p:spPr>
          <a:xfrm>
            <a:off x="502920" y="920404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On-Device Voice Pipeline</a:t>
            </a:r>
            <a:endParaRPr lang="en-US" sz="2800" dirty="0"/>
          </a:p>
        </p:txBody>
      </p:sp>
      <p:sp>
        <p:nvSpPr>
          <p:cNvPr id="16" name="Text 5"/>
          <p:cNvSpPr/>
          <p:nvPr/>
        </p:nvSpPr>
        <p:spPr>
          <a:xfrm>
            <a:off x="502920" y="1418720"/>
            <a:ext cx="11183112" cy="373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voice loop — STT, LLM, TTS — running entirely offline on a stock Android phone.</a:t>
            </a:r>
            <a:endParaRPr lang="en-US" sz="2000" dirty="0"/>
          </a:p>
        </p:txBody>
      </p:sp>
      <p:sp>
        <p:nvSpPr>
          <p:cNvPr id="17" name="Shape 6"/>
          <p:cNvSpPr/>
          <p:nvPr/>
        </p:nvSpPr>
        <p:spPr>
          <a:xfrm>
            <a:off x="502919" y="1901377"/>
            <a:ext cx="11183112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 10"/>
          <p:cNvSpPr/>
          <p:nvPr/>
        </p:nvSpPr>
        <p:spPr>
          <a:xfrm>
            <a:off x="407751" y="1983825"/>
            <a:ext cx="11373322" cy="46877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chemeClr val="accent1"/>
                </a:solidFill>
                <a:ea typeface="Calibri" pitchFamily="34" charset="-122"/>
                <a:cs typeface="Calibri" pitchFamily="34" charset="-120"/>
              </a:rPr>
              <a:t>KEY CONCEPTS</a:t>
            </a:r>
            <a:endParaRPr lang="en-US" sz="2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600" dirty="0"/>
          </a:p>
          <a:p>
            <a:pPr marL="0">
              <a:buNone/>
            </a:pPr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Zero Cloud Calls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Complete STT → LLM → TTS loop runs entirely on-device.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Privacy &amp; Offline First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Voice and transcripts never leave the handset.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622 ms TTFT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Measured time-to-first-token on Pixel 10 (Tensor G5).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Two On-Device LLMs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MediaPipe/LiteRT (any device) or Gemini Nano/</a:t>
            </a:r>
            <a:r>
              <a:rPr lang="en-US" sz="2400" kern="0" dirty="0" err="1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AICore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(Pixel). 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Model Catalog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LLMs (Qwen 0.5B/1.5B, Phi-4-mini, Gemma 1B, Gemini Nano)</a:t>
            </a:r>
            <a:b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  Downloads persist. Zero API costs after model download.</a:t>
            </a:r>
          </a:p>
          <a:p>
            <a:pPr marL="0" indent="0">
              <a:buNone/>
            </a:pPr>
            <a:endParaRPr lang="en-US" sz="1100" kern="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800" b="1" kern="0" spc="200" dirty="0">
                <a:solidFill>
                  <a:schemeClr val="accent1"/>
                </a:solidFill>
                <a:ea typeface="Calibri" pitchFamily="34" charset="-122"/>
                <a:cs typeface="Calibri" pitchFamily="34" charset="-120"/>
              </a:rPr>
              <a:t>THE TRADEOFFS</a:t>
            </a:r>
          </a:p>
          <a:p>
            <a:endParaRPr lang="en-US" sz="6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400" b="1" kern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</a:t>
            </a:r>
            <a:r>
              <a:rPr lang="en-US" sz="2400" b="1" kern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LLM Quality 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—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kern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Limited by on-device model size.</a:t>
            </a:r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400" b="1" kern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</a:t>
            </a:r>
            <a:r>
              <a:rPr lang="en-US" sz="2400" b="1" kern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Requires Expensive High-End Device 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—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kern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GPU and Memory for model weights</a:t>
            </a:r>
          </a:p>
          <a:p>
            <a:endParaRPr lang="en-US" sz="2400" kern="0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B5AFDB3-B593-D575-730D-4E0BE81FD7EA}"/>
              </a:ext>
            </a:extLst>
          </p:cNvPr>
          <p:cNvSpPr/>
          <p:nvPr/>
        </p:nvSpPr>
        <p:spPr>
          <a:xfrm>
            <a:off x="0" y="0"/>
            <a:ext cx="12188825" cy="68631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image shows a user interface for a voice-activated, on-device language model, featuring options like Gemini Nano, speech recognition, and a system message that keeps responses concise and conversational.&#10;&#10;AI-generated content may be incorrect.">
            <a:extLst>
              <a:ext uri="{FF2B5EF4-FFF2-40B4-BE49-F238E27FC236}">
                <a16:creationId xmlns:a16="http://schemas.microsoft.com/office/drawing/2014/main" id="{EA6775A7-F77A-BAEC-30E8-B09CCB08D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06" y="1210055"/>
            <a:ext cx="2682223" cy="5396733"/>
          </a:xfrm>
          <a:prstGeom prst="rect">
            <a:avLst/>
          </a:prstGeom>
        </p:spPr>
      </p:pic>
      <p:pic>
        <p:nvPicPr>
          <p:cNvPr id="7" name="Picture 6" descr="GVP&#10;&#10;AI-generated content may be incorrect.">
            <a:extLst>
              <a:ext uri="{FF2B5EF4-FFF2-40B4-BE49-F238E27FC236}">
                <a16:creationId xmlns:a16="http://schemas.microsoft.com/office/drawing/2014/main" id="{8503E167-8F35-88B7-6E4B-A57FE9057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005" y="705433"/>
            <a:ext cx="1014781" cy="735717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CCC2B631-DB11-7D56-3610-C517C3BD8B9B}"/>
              </a:ext>
            </a:extLst>
          </p:cNvPr>
          <p:cNvSpPr/>
          <p:nvPr/>
        </p:nvSpPr>
        <p:spPr>
          <a:xfrm>
            <a:off x="502920" y="159722"/>
            <a:ext cx="11274552" cy="705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GVP App Demo and Code Review</a:t>
            </a:r>
            <a:endParaRPr lang="en-US" sz="4400" dirty="0"/>
          </a:p>
        </p:txBody>
      </p:sp>
      <p:pic>
        <p:nvPicPr>
          <p:cNvPr id="6" name="Picture 5" descr="The image depicts a code snippet from an Android app's source code, specifically from the 'src/main/java/com/m15/gvp/Ilm/LImClient.kt' file, showing a function `sendUserText` that sends a user message, conversation history, and a system message to receive a flow of response events.&#10;&#10;AI-generated content may be incorrect.">
            <a:extLst>
              <a:ext uri="{FF2B5EF4-FFF2-40B4-BE49-F238E27FC236}">
                <a16:creationId xmlns:a16="http://schemas.microsoft.com/office/drawing/2014/main" id="{0397AEB3-1751-6559-69EA-02F94BAA5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079" y="1125639"/>
            <a:ext cx="8309859" cy="556556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64BD65A-2A4D-CAAC-CC93-BC85C55670C7}"/>
              </a:ext>
            </a:extLst>
          </p:cNvPr>
          <p:cNvSpPr/>
          <p:nvPr/>
        </p:nvSpPr>
        <p:spPr>
          <a:xfrm>
            <a:off x="5138547" y="2220228"/>
            <a:ext cx="5248275" cy="3512133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 wrap="none" lIns="274320" tIns="274320" bIns="365760" rtlCol="0" anchor="ctr"/>
          <a:lstStyle/>
          <a:p>
            <a:r>
              <a:rPr lang="en-US" sz="2000" b="1" dirty="0">
                <a:latin typeface="Consolas" panose="020B0609020204030204" pitchFamily="49" charset="0"/>
                <a:ea typeface="Arial" pitchFamily="34" charset="-122"/>
                <a:cs typeface="Arial" pitchFamily="34" charset="-120"/>
              </a:rPr>
              <a:t>README.md – Docs</a:t>
            </a:r>
          </a:p>
          <a:p>
            <a:endParaRPr lang="en-US" sz="2000" b="1" dirty="0">
              <a:latin typeface="Consolas" panose="020B0609020204030204" pitchFamily="49" charset="0"/>
              <a:ea typeface="Arial" pitchFamily="34" charset="-122"/>
              <a:cs typeface="Arial" pitchFamily="34" charset="-120"/>
            </a:endParaRPr>
          </a:p>
          <a:p>
            <a:r>
              <a:rPr lang="en-US" sz="2000" b="1" dirty="0" err="1">
                <a:latin typeface="Consolas" panose="020B0609020204030204" pitchFamily="49" charset="0"/>
                <a:cs typeface="Arial" pitchFamily="34" charset="-120"/>
              </a:rPr>
              <a:t>VoiceAgentService.kt</a:t>
            </a: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– Service</a:t>
            </a:r>
            <a:endParaRPr lang="en-US" sz="2000" b="1" dirty="0">
              <a:latin typeface="Consolas" panose="020B0609020204030204" pitchFamily="49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latin typeface="Consolas" panose="020B0609020204030204" pitchFamily="49" charset="0"/>
                <a:ea typeface="Arial" pitchFamily="34" charset="-122"/>
                <a:cs typeface="Arial" pitchFamily="34" charset="-120"/>
              </a:rPr>
              <a:t>MlKitGenAiSttEngine.kt</a:t>
            </a:r>
            <a:r>
              <a:rPr lang="en-US" sz="2000" b="1" dirty="0">
                <a:latin typeface="Consolas" panose="020B0609020204030204" pitchFamily="49" charset="0"/>
                <a:ea typeface="Arial" pitchFamily="34" charset="-122"/>
                <a:cs typeface="Arial" pitchFamily="34" charset="-120"/>
              </a:rPr>
              <a:t> – STT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latin typeface="Consolas" panose="020B0609020204030204" pitchFamily="49" charset="0"/>
                <a:cs typeface="Arial" pitchFamily="34" charset="-120"/>
              </a:rPr>
              <a:t>MlKitLlmEngine.kt</a:t>
            </a: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– LLM</a:t>
            </a:r>
            <a:br>
              <a:rPr lang="en-US" sz="2000" b="1" dirty="0">
                <a:latin typeface="Consolas" panose="020B0609020204030204" pitchFamily="49" charset="0"/>
                <a:cs typeface="Arial" pitchFamily="34" charset="-120"/>
              </a:rPr>
            </a:br>
            <a:r>
              <a:rPr lang="en-US" sz="2000" b="1" dirty="0" err="1">
                <a:latin typeface="Consolas" panose="020B0609020204030204" pitchFamily="49" charset="0"/>
                <a:cs typeface="Arial" pitchFamily="34" charset="-120"/>
              </a:rPr>
              <a:t>LLMClient.kt</a:t>
            </a: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– LLM System Message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4490F-ECEA-18F1-4F90-10FEC7CC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9">
            <a:extLst>
              <a:ext uri="{FF2B5EF4-FFF2-40B4-BE49-F238E27FC236}">
                <a16:creationId xmlns:a16="http://schemas.microsoft.com/office/drawing/2014/main" id="{318CD51B-0888-3A58-3D33-13883A3BFF67}"/>
              </a:ext>
            </a:extLst>
          </p:cNvPr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pic>
        <p:nvPicPr>
          <p:cNvPr id="4" name="Picture 3" descr="Cliff&#10;&#10;AI-generated content may be incorrect.">
            <a:extLst>
              <a:ext uri="{FF2B5EF4-FFF2-40B4-BE49-F238E27FC236}">
                <a16:creationId xmlns:a16="http://schemas.microsoft.com/office/drawing/2014/main" id="{F97AEA80-87DA-03CC-4354-8A7960CF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731" y="1410133"/>
            <a:ext cx="861362" cy="71957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5DB7705-94AA-3371-7549-2481677CBEB9}"/>
              </a:ext>
            </a:extLst>
          </p:cNvPr>
          <p:cNvSpPr/>
          <p:nvPr/>
        </p:nvSpPr>
        <p:spPr>
          <a:xfrm>
            <a:off x="457199" y="569471"/>
            <a:ext cx="11247120" cy="642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cs typeface="Arial" pitchFamily="34" charset="-120"/>
              </a:rPr>
              <a:t>Cloud (Cliff)</a:t>
            </a:r>
            <a:endParaRPr lang="en-US" sz="4000" b="1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07CA77A4-33D5-F023-F9A2-F7402F44DD47}"/>
              </a:ext>
            </a:extLst>
          </p:cNvPr>
          <p:cNvSpPr/>
          <p:nvPr/>
        </p:nvSpPr>
        <p:spPr>
          <a:xfrm>
            <a:off x="1130296" y="2496583"/>
            <a:ext cx="9616620" cy="4220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State of the Art Cloud Models</a:t>
            </a:r>
            <a:r>
              <a:rPr lang="en-US" sz="2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C395E05C-DCD8-3721-2D4A-C3629B65D813}"/>
              </a:ext>
            </a:extLst>
          </p:cNvPr>
          <p:cNvSpPr/>
          <p:nvPr/>
        </p:nvSpPr>
        <p:spPr>
          <a:xfrm>
            <a:off x="4000487" y="4010940"/>
            <a:ext cx="3982239" cy="823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b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8D0A98BC-94DE-0FE7-7B4E-ED9EA1BFA3FE}"/>
              </a:ext>
            </a:extLst>
          </p:cNvPr>
          <p:cNvSpPr/>
          <p:nvPr/>
        </p:nvSpPr>
        <p:spPr>
          <a:xfrm>
            <a:off x="563105" y="4010940"/>
            <a:ext cx="3181065" cy="73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Deepgram Flux</a:t>
            </a:r>
            <a:b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Websockets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Streaming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B9872-FE44-A76B-1C89-9E2507EE982A}"/>
              </a:ext>
            </a:extLst>
          </p:cNvPr>
          <p:cNvSpPr txBox="1"/>
          <p:nvPr/>
        </p:nvSpPr>
        <p:spPr>
          <a:xfrm>
            <a:off x="1598887" y="3377472"/>
            <a:ext cx="115279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STT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459835-2A40-C38A-7304-9376C1778565}"/>
              </a:ext>
            </a:extLst>
          </p:cNvPr>
          <p:cNvSpPr txBox="1"/>
          <p:nvPr/>
        </p:nvSpPr>
        <p:spPr>
          <a:xfrm>
            <a:off x="5435352" y="3377472"/>
            <a:ext cx="115279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LLM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60C930-A08E-ECC3-7998-BCA13553469A}"/>
              </a:ext>
            </a:extLst>
          </p:cNvPr>
          <p:cNvSpPr txBox="1"/>
          <p:nvPr/>
        </p:nvSpPr>
        <p:spPr>
          <a:xfrm>
            <a:off x="9188317" y="3377472"/>
            <a:ext cx="115279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TTS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9F94605-DB53-BA0C-308E-2E55E089B44C}"/>
              </a:ext>
            </a:extLst>
          </p:cNvPr>
          <p:cNvSpPr/>
          <p:nvPr/>
        </p:nvSpPr>
        <p:spPr>
          <a:xfrm>
            <a:off x="8239044" y="4010940"/>
            <a:ext cx="3043068" cy="73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Deepgram Aura-2</a:t>
            </a:r>
            <a:b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Websockets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Streaming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737E9A26-A62A-A5A4-E2FB-435B959503D5}"/>
              </a:ext>
            </a:extLst>
          </p:cNvPr>
          <p:cNvSpPr/>
          <p:nvPr/>
        </p:nvSpPr>
        <p:spPr>
          <a:xfrm>
            <a:off x="4258049" y="5181950"/>
            <a:ext cx="3980996" cy="905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Security with server tokens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Multilingual (Japanese)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F84D8F2E-BE7B-7A04-40A8-959BC6F2B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6840" y="5213829"/>
            <a:ext cx="347293" cy="426733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512CBF34-1273-9DC7-6965-6B41F55CF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0283" y="5640562"/>
            <a:ext cx="347293" cy="42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33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80F26-5DDD-CD55-AC12-598B61BC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CA2730A9-63E4-ACCC-5935-58B5C4333A23}"/>
              </a:ext>
            </a:extLst>
          </p:cNvPr>
          <p:cNvSpPr/>
          <p:nvPr/>
        </p:nvSpPr>
        <p:spPr>
          <a:xfrm>
            <a:off x="-64928" y="0"/>
            <a:ext cx="12253753" cy="68631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6D2284F-0E95-75F6-F73C-92CBD82CA919}"/>
              </a:ext>
            </a:extLst>
          </p:cNvPr>
          <p:cNvSpPr/>
          <p:nvPr/>
        </p:nvSpPr>
        <p:spPr>
          <a:xfrm>
            <a:off x="502920" y="159722"/>
            <a:ext cx="11274552" cy="705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Cliff App Overview</a:t>
            </a:r>
            <a:endParaRPr lang="en-US" sz="4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CCE32A6-ED96-1BA8-D5F6-A576DDF4F8CE}"/>
              </a:ext>
            </a:extLst>
          </p:cNvPr>
          <p:cNvSpPr/>
          <p:nvPr/>
        </p:nvSpPr>
        <p:spPr>
          <a:xfrm>
            <a:off x="502856" y="887040"/>
            <a:ext cx="6034446" cy="451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(SOTA) Cloud Pipeline</a:t>
            </a:r>
            <a:endParaRPr lang="en-US" sz="28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9F290D8-07F9-7AEF-E302-9A9FA0349687}"/>
              </a:ext>
            </a:extLst>
          </p:cNvPr>
          <p:cNvSpPr/>
          <p:nvPr/>
        </p:nvSpPr>
        <p:spPr>
          <a:xfrm>
            <a:off x="502920" y="1359576"/>
            <a:ext cx="8964930" cy="373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i="1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cloud models with full-duplex streaming.</a:t>
            </a:r>
            <a:endParaRPr lang="en-US" sz="28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C25795BD-61A9-6BE5-462A-C7146F5D3984}"/>
              </a:ext>
            </a:extLst>
          </p:cNvPr>
          <p:cNvSpPr/>
          <p:nvPr/>
        </p:nvSpPr>
        <p:spPr>
          <a:xfrm>
            <a:off x="502856" y="2020621"/>
            <a:ext cx="11183112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171113AE-A7E0-0729-D105-8AA3CDD47BAC}"/>
              </a:ext>
            </a:extLst>
          </p:cNvPr>
          <p:cNvSpPr/>
          <p:nvPr/>
        </p:nvSpPr>
        <p:spPr>
          <a:xfrm>
            <a:off x="502920" y="2324504"/>
            <a:ext cx="11449209" cy="38888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chemeClr val="accent1"/>
                </a:solidFill>
                <a:ea typeface="Calibri" pitchFamily="34" charset="-122"/>
                <a:cs typeface="Calibri" pitchFamily="34" charset="-120"/>
              </a:rPr>
              <a:t>KEY CONCEPTS</a:t>
            </a:r>
            <a:endParaRPr lang="en-US" sz="28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Full-Duplex Streaming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STT, LLM, and TTS all stream concurrently. 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Sub-Second TTFT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Live TTFT readout (e.g. TTFT 842 </a:t>
            </a:r>
            <a:r>
              <a:rPr lang="en-US" sz="2400" kern="0" dirty="0" err="1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ms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).</a:t>
            </a:r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Multilingual Support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Japanese end-to-end.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Real Barge-In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Interruptions cancel in-flight LLM response and cancel audio.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Stateless by Design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Drives Claude’s plain Messages API, No session management.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No API Keys on Device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Backend manages Deepgram and Claude tokens.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Compose Audio Orb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— Reactive orange orb driven by max(</a:t>
            </a:r>
            <a:r>
              <a:rPr lang="en-US" sz="2400" kern="0" dirty="0" err="1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ttsLevel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kern="0" dirty="0" err="1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micLevel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).</a:t>
            </a:r>
            <a:endParaRPr lang="en-US" sz="2400" kern="0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2400" kern="0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1455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6439" y="3918821"/>
            <a:ext cx="7296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Tokens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9728" y="4526282"/>
            <a:ext cx="6212622" cy="7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server mints short-lived tokens on demand. The APK holds nothing useful.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14467" y="5615008"/>
            <a:ext cx="1325006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66884" y="5615008"/>
            <a:ext cx="118522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99336" y="5668815"/>
            <a:ext cx="20635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</a:t>
            </a:r>
            <a:r>
              <a:rPr lang="en-US" sz="1400" dirty="0" err="1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deepgram</a:t>
            </a: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/token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X-Cliff-Key header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1736" y="5615008"/>
            <a:ext cx="1098643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44354" y="5615008"/>
            <a:ext cx="109864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b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602" y="5569288"/>
            <a:ext cx="1690755" cy="777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API key.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provider </a:t>
            </a:r>
            <a:b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sk_...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36676" y="5649065"/>
            <a:ext cx="1663244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93133" y="5649065"/>
            <a:ext cx="17351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Deepgram/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JWT (TTL=600s)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81101" y="4468898"/>
            <a:ext cx="3739349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87596" y="4552717"/>
            <a:ext cx="3856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Lifetime - 10 mins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487597" y="4872757"/>
            <a:ext cx="33605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Expires before it's worth abusing.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71009" y="1687421"/>
            <a:ext cx="4027566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71011" y="1761716"/>
            <a:ext cx="3818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update to rotate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71010" y="2081756"/>
            <a:ext cx="393016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keys live in the backend's env file.</a:t>
            </a:r>
            <a:endParaRPr lang="en-US" sz="1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5F6A8A56-6A41-3E09-26F6-8FC7C2A0026D}"/>
              </a:ext>
            </a:extLst>
          </p:cNvPr>
          <p:cNvSpPr/>
          <p:nvPr/>
        </p:nvSpPr>
        <p:spPr>
          <a:xfrm>
            <a:off x="5335377" y="5706448"/>
            <a:ext cx="460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C4B47D6-07C8-8137-21A6-5AC37BF2662B}"/>
              </a:ext>
            </a:extLst>
          </p:cNvPr>
          <p:cNvSpPr/>
          <p:nvPr/>
        </p:nvSpPr>
        <p:spPr>
          <a:xfrm>
            <a:off x="8912824" y="5694785"/>
            <a:ext cx="460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D77A2FC-05AA-B304-1A62-859A56B197A5}"/>
              </a:ext>
            </a:extLst>
          </p:cNvPr>
          <p:cNvSpPr/>
          <p:nvPr/>
        </p:nvSpPr>
        <p:spPr>
          <a:xfrm>
            <a:off x="520114" y="1036142"/>
            <a:ext cx="368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Lookup</a:t>
            </a:r>
            <a:endParaRPr lang="en-US" sz="28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709E1582-4243-21F5-67FD-56B9C2548FB7}"/>
              </a:ext>
            </a:extLst>
          </p:cNvPr>
          <p:cNvSpPr/>
          <p:nvPr/>
        </p:nvSpPr>
        <p:spPr>
          <a:xfrm>
            <a:off x="1159728" y="1696593"/>
            <a:ext cx="4264248" cy="7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APK never holds long-lived API keys for the speech providers.</a:t>
            </a:r>
            <a:endParaRPr lang="en-US" sz="20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A2512F17-AB82-822E-32E6-EC4E2E36D935}"/>
              </a:ext>
            </a:extLst>
          </p:cNvPr>
          <p:cNvSpPr/>
          <p:nvPr/>
        </p:nvSpPr>
        <p:spPr>
          <a:xfrm>
            <a:off x="1751604" y="2720551"/>
            <a:ext cx="1325006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B95C432F-5DBE-89C6-2DA9-FB075355177B}"/>
              </a:ext>
            </a:extLst>
          </p:cNvPr>
          <p:cNvSpPr/>
          <p:nvPr/>
        </p:nvSpPr>
        <p:spPr>
          <a:xfrm>
            <a:off x="1804021" y="2720551"/>
            <a:ext cx="118522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3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7EB153BD-2517-E3FA-82C6-9BE8BBCEC527}"/>
              </a:ext>
            </a:extLst>
          </p:cNvPr>
          <p:cNvSpPr/>
          <p:nvPr/>
        </p:nvSpPr>
        <p:spPr>
          <a:xfrm>
            <a:off x="3136473" y="2774358"/>
            <a:ext cx="20635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</a:t>
            </a:r>
            <a:r>
              <a:rPr lang="en-US" sz="1400" dirty="0" err="1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/token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X-Cliff-Key header</a:t>
            </a:r>
            <a:endParaRPr lang="en-US" sz="14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3A9BB7D2-8775-BE6D-737C-434E61BA874A}"/>
              </a:ext>
            </a:extLst>
          </p:cNvPr>
          <p:cNvSpPr/>
          <p:nvPr/>
        </p:nvSpPr>
        <p:spPr>
          <a:xfrm>
            <a:off x="6028873" y="2720551"/>
            <a:ext cx="1098643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7061BD66-9B6B-D686-9C50-16A4AE1F05FC}"/>
              </a:ext>
            </a:extLst>
          </p:cNvPr>
          <p:cNvSpPr/>
          <p:nvPr/>
        </p:nvSpPr>
        <p:spPr>
          <a:xfrm>
            <a:off x="5981491" y="2720551"/>
            <a:ext cx="109864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b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3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E1F35210-47E2-DD01-A1AA-AA10E53F5658}"/>
              </a:ext>
            </a:extLst>
          </p:cNvPr>
          <p:cNvSpPr/>
          <p:nvPr/>
        </p:nvSpPr>
        <p:spPr>
          <a:xfrm>
            <a:off x="7260439" y="2678993"/>
            <a:ext cx="1325006" cy="777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cs typeface="Arial" pitchFamily="34" charset="-120"/>
              </a:rPr>
              <a:t>Returns the </a:t>
            </a:r>
            <a:br>
              <a:rPr lang="en-US" sz="1400" dirty="0">
                <a:solidFill>
                  <a:srgbClr val="8B949E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400" dirty="0">
                <a:solidFill>
                  <a:srgbClr val="8B949E"/>
                </a:solidFill>
                <a:latin typeface="Arial" pitchFamily="34" charset="0"/>
                <a:cs typeface="Arial" pitchFamily="34" charset="-120"/>
              </a:rPr>
              <a:t>API key</a:t>
            </a:r>
            <a:endParaRPr lang="en-US" sz="1400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49DCD83B-AC91-88E9-FCF8-A7284A1B0166}"/>
              </a:ext>
            </a:extLst>
          </p:cNvPr>
          <p:cNvSpPr/>
          <p:nvPr/>
        </p:nvSpPr>
        <p:spPr>
          <a:xfrm>
            <a:off x="5319167" y="2800328"/>
            <a:ext cx="460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A7C24DBF-4DBD-DEDF-E697-FB5EE19DD885}"/>
              </a:ext>
            </a:extLst>
          </p:cNvPr>
          <p:cNvSpPr/>
          <p:nvPr/>
        </p:nvSpPr>
        <p:spPr>
          <a:xfrm>
            <a:off x="490121" y="93342"/>
            <a:ext cx="11247120" cy="642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cs typeface="Arial" pitchFamily="34" charset="-120"/>
              </a:rPr>
              <a:t>Security – Managing API Keys</a:t>
            </a:r>
            <a:endParaRPr lang="en-US" sz="4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985FE-F8D8-CF78-24CB-0DF7B6B0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8D12B8-FE56-7820-35A9-7C8CA74C2521}"/>
              </a:ext>
            </a:extLst>
          </p:cNvPr>
          <p:cNvSpPr/>
          <p:nvPr/>
        </p:nvSpPr>
        <p:spPr>
          <a:xfrm>
            <a:off x="0" y="0"/>
            <a:ext cx="12188825" cy="68631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2A44406-5B9D-B0A7-42E0-C15BB2C8267F}"/>
              </a:ext>
            </a:extLst>
          </p:cNvPr>
          <p:cNvSpPr/>
          <p:nvPr/>
        </p:nvSpPr>
        <p:spPr>
          <a:xfrm>
            <a:off x="502920" y="159722"/>
            <a:ext cx="11274552" cy="705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Cliff App Demo and Code Review</a:t>
            </a:r>
            <a:endParaRPr lang="en-US" sz="4400" dirty="0"/>
          </a:p>
        </p:txBody>
      </p:sp>
      <p:pic>
        <p:nvPicPr>
          <p:cNvPr id="3" name="Picture 2" descr="X&#10;&#10;AI-generated content may be incorrect.">
            <a:extLst>
              <a:ext uri="{FF2B5EF4-FFF2-40B4-BE49-F238E27FC236}">
                <a16:creationId xmlns:a16="http://schemas.microsoft.com/office/drawing/2014/main" id="{DF070107-548B-C411-BABD-B2BF767A4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39" y="1102687"/>
            <a:ext cx="2699615" cy="5396732"/>
          </a:xfrm>
          <a:prstGeom prst="rect">
            <a:avLst/>
          </a:prstGeom>
          <a:ln w="15875">
            <a:solidFill>
              <a:schemeClr val="bg1">
                <a:lumMod val="95000"/>
              </a:schemeClr>
            </a:solidFill>
          </a:ln>
        </p:spPr>
      </p:pic>
      <p:pic>
        <p:nvPicPr>
          <p:cNvPr id="10" name="Picture 9" descr="Cliff&#10;&#10;AI-generated content may be incorrect.">
            <a:extLst>
              <a:ext uri="{FF2B5EF4-FFF2-40B4-BE49-F238E27FC236}">
                <a16:creationId xmlns:a16="http://schemas.microsoft.com/office/drawing/2014/main" id="{1E815C2D-8090-B7D7-5FC4-B2DC2749B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61" y="676874"/>
            <a:ext cx="861362" cy="719574"/>
          </a:xfrm>
          <a:prstGeom prst="rect">
            <a:avLst/>
          </a:prstGeom>
        </p:spPr>
      </p:pic>
      <p:pic>
        <p:nvPicPr>
          <p:cNvPr id="8" name="Picture 7" descr="Image content description: The image shows a code snippet in Kotlin, specifically within a file structure, containing a function `close()` and an object `ClaudeStreamingClient.kt`. It includes a string variable `DEFAULT_SYSTEM_MESSAGE` which defines the default message for a voice assistant named Cliff.&#10;&#10;AI-generated content may be incorrect.">
            <a:extLst>
              <a:ext uri="{FF2B5EF4-FFF2-40B4-BE49-F238E27FC236}">
                <a16:creationId xmlns:a16="http://schemas.microsoft.com/office/drawing/2014/main" id="{FE68409D-492F-D285-9C1D-6F64A0D51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495" y="1102687"/>
            <a:ext cx="8066130" cy="5490843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574D879-D5E7-8CAA-A180-51234B943F57}"/>
              </a:ext>
            </a:extLst>
          </p:cNvPr>
          <p:cNvSpPr/>
          <p:nvPr/>
        </p:nvSpPr>
        <p:spPr>
          <a:xfrm>
            <a:off x="4961113" y="1785994"/>
            <a:ext cx="5997153" cy="3509905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 wrap="none" lIns="274320" tIns="274320" bIns="365760" rtlCol="0" anchor="ctr"/>
          <a:lstStyle/>
          <a:p>
            <a:r>
              <a:rPr lang="en-US" sz="2000" b="1" dirty="0">
                <a:latin typeface="Consolas" panose="020B0609020204030204" pitchFamily="49" charset="0"/>
                <a:ea typeface="Arial" pitchFamily="34" charset="-122"/>
                <a:cs typeface="Arial" pitchFamily="34" charset="-120"/>
              </a:rPr>
              <a:t>README.md – Docs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latin typeface="Consolas" panose="020B0609020204030204" pitchFamily="49" charset="0"/>
                <a:ea typeface="Arial" pitchFamily="34" charset="-122"/>
                <a:cs typeface="Arial" pitchFamily="34" charset="-120"/>
              </a:rPr>
              <a:t>FluxClientImpl.kt</a:t>
            </a:r>
            <a:r>
              <a:rPr lang="en-US" sz="2000" b="1" dirty="0">
                <a:latin typeface="Consolas" panose="020B0609020204030204" pitchFamily="49" charset="0"/>
                <a:ea typeface="Arial" pitchFamily="34" charset="-122"/>
                <a:cs typeface="Arial" pitchFamily="34" charset="-120"/>
              </a:rPr>
              <a:t> – Deepgram Flux STT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latin typeface="Consolas" panose="020B0609020204030204" pitchFamily="49" charset="0"/>
                <a:cs typeface="Arial" pitchFamily="34" charset="-120"/>
              </a:rPr>
              <a:t>LlmClient.kt</a:t>
            </a: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– Claude LLM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latin typeface="Consolas" panose="020B0609020204030204" pitchFamily="49" charset="0"/>
                <a:cs typeface="Arial" pitchFamily="34" charset="-120"/>
              </a:rPr>
              <a:t>DeepgramTtsClient.kt</a:t>
            </a: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– Deepgram TTS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cliff_server.py – Backend</a:t>
            </a:r>
          </a:p>
        </p:txBody>
      </p:sp>
    </p:spTree>
    <p:extLst>
      <p:ext uri="{BB962C8B-B14F-4D97-AF65-F5344CB8AC3E}">
        <p14:creationId xmlns:p14="http://schemas.microsoft.com/office/powerpoint/2010/main" val="2355435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C3316-B1D2-435B-E6D7-91914052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9">
            <a:extLst>
              <a:ext uri="{FF2B5EF4-FFF2-40B4-BE49-F238E27FC236}">
                <a16:creationId xmlns:a16="http://schemas.microsoft.com/office/drawing/2014/main" id="{DDD79689-D9DA-64E2-5DF0-E7470D312E84}"/>
              </a:ext>
            </a:extLst>
          </p:cNvPr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D4EB4B-7604-87BD-64CC-BB3093324EBD}"/>
              </a:ext>
            </a:extLst>
          </p:cNvPr>
          <p:cNvSpPr/>
          <p:nvPr/>
        </p:nvSpPr>
        <p:spPr>
          <a:xfrm>
            <a:off x="351818" y="1217395"/>
            <a:ext cx="11421758" cy="1197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600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Agentic Voice (Pipecat)</a:t>
            </a:r>
            <a:endParaRPr lang="en-US" sz="3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1600E6A-0947-70D7-C6DF-5C1ECD5C4889}"/>
              </a:ext>
            </a:extLst>
          </p:cNvPr>
          <p:cNvSpPr/>
          <p:nvPr/>
        </p:nvSpPr>
        <p:spPr>
          <a:xfrm>
            <a:off x="470852" y="3063782"/>
            <a:ext cx="11247120" cy="1859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ndara Light" panose="020E0502030303020204" pitchFamily="34" charset="0"/>
                <a:ea typeface="Arial" pitchFamily="34" charset="-122"/>
                <a:cs typeface="Arial" pitchFamily="34" charset="-120"/>
              </a:rPr>
              <a:t>Voice AI is no longer just inference.
We make it more powerful by adding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ndara Light" panose="020E0502030303020204" pitchFamily="34" charset="0"/>
                <a:ea typeface="Arial" pitchFamily="34" charset="-122"/>
                <a:cs typeface="Arial" pitchFamily="34" charset="-120"/>
              </a:rPr>
              <a:t>orchestration, memory, and tool calling.</a:t>
            </a:r>
            <a:endParaRPr lang="en-US" sz="2800" dirty="0">
              <a:latin typeface="Candara Light" panose="020E0502030303020204" pitchFamily="34" charset="0"/>
            </a:endParaRPr>
          </a:p>
        </p:txBody>
      </p:sp>
      <p:pic>
        <p:nvPicPr>
          <p:cNvPr id="5" name="Picture 4" descr="The image depicts a simple, green circular shape with a stylized, curved, upward-pointing symbol, resembling an arrow or an upward-pointing line.&#10;&#10;AI-generated content may be incorrect.">
            <a:extLst>
              <a:ext uri="{FF2B5EF4-FFF2-40B4-BE49-F238E27FC236}">
                <a16:creationId xmlns:a16="http://schemas.microsoft.com/office/drawing/2014/main" id="{DD5DB334-6020-12C6-95F9-B0D0F0C38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64" y="2177760"/>
            <a:ext cx="860295" cy="72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8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0184" y="350721"/>
            <a:ext cx="11247120" cy="605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Agentic Voice Architecture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36834" y="3814869"/>
            <a:ext cx="11247120" cy="504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your Android device with backend server</a:t>
            </a:r>
            <a:endParaRPr lang="en-US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79437" y="45629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 Mesh Network (Recommended)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867988" y="4998509"/>
            <a:ext cx="6184812" cy="88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on any device or server
Works across Wi-Fi, cellular, and public network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covers most hobby and small-team projects
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49585" y="6021588"/>
            <a:ext cx="34318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Alternatives: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35765" y="6063952"/>
            <a:ext cx="5217035" cy="504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80000"/>
              </a:lnSpc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VPN (WireGuard, OpenVPN)
Tunnels (ngrok, Cloudflare Tunnel)
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D6D352F-B5BA-1AE9-6214-F39E6E16E141}"/>
              </a:ext>
            </a:extLst>
          </p:cNvPr>
          <p:cNvSpPr/>
          <p:nvPr/>
        </p:nvSpPr>
        <p:spPr>
          <a:xfrm>
            <a:off x="486978" y="1350533"/>
            <a:ext cx="2478024" cy="2084832"/>
          </a:xfrm>
          <a:prstGeom prst="rect">
            <a:avLst/>
          </a:prstGeom>
          <a:solidFill>
            <a:srgbClr val="0E2417"/>
          </a:solidFill>
          <a:ln w="15240">
            <a:solidFill>
              <a:srgbClr val="2DF36B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App</a:t>
            </a: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2400" b="1" dirty="0">
                <a:solidFill>
                  <a:srgbClr val="6EF8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Pipecat Client</a:t>
            </a:r>
            <a:r>
              <a:rPr lang="en-US" sz="1100" b="1" dirty="0">
                <a:solidFill>
                  <a:srgbClr val="DFF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br>
              <a:rPr lang="en-US" sz="1100" b="1" dirty="0">
                <a:solidFill>
                  <a:srgbClr val="DFF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dirty="0">
                <a:solidFill>
                  <a:srgbClr val="D2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mic audio, Play TTS, Render UI, Maintain session</a:t>
            </a:r>
            <a:endParaRPr lang="en-US" sz="20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E91D9BAB-EFDA-D3F5-22D5-F8061C60D7D8}"/>
              </a:ext>
            </a:extLst>
          </p:cNvPr>
          <p:cNvSpPr/>
          <p:nvPr/>
        </p:nvSpPr>
        <p:spPr>
          <a:xfrm>
            <a:off x="3282375" y="1485899"/>
            <a:ext cx="2217644" cy="1847210"/>
          </a:xfrm>
          <a:prstGeom prst="rect">
            <a:avLst/>
          </a:prstGeom>
          <a:solidFill>
            <a:srgbClr val="0A1B22"/>
          </a:solidFill>
          <a:ln w="15240">
            <a:solidFill>
              <a:srgbClr val="00E5F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7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Pipecat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2200" b="1" dirty="0">
                <a:solidFill>
                  <a:srgbClr val="A9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Transport</a:t>
            </a:r>
            <a:r>
              <a:rPr lang="en-US" sz="1000" b="1" dirty="0">
                <a:solidFill>
                  <a:srgbClr val="A9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2000" dirty="0">
                <a:solidFill>
                  <a:srgbClr val="D9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Source, Real-time audio transport. WebRTC</a:t>
            </a:r>
            <a:endParaRPr lang="en-US" sz="20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9C7D4F0-D960-3539-423F-BFAC9D0C4DC8}"/>
              </a:ext>
            </a:extLst>
          </p:cNvPr>
          <p:cNvSpPr/>
          <p:nvPr/>
        </p:nvSpPr>
        <p:spPr>
          <a:xfrm>
            <a:off x="5870127" y="1273570"/>
            <a:ext cx="2978277" cy="2263141"/>
          </a:xfrm>
          <a:prstGeom prst="rect">
            <a:avLst/>
          </a:prstGeom>
          <a:solidFill>
            <a:srgbClr val="142014"/>
          </a:solidFill>
          <a:ln w="15240">
            <a:solidFill>
              <a:srgbClr val="6EF89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OpenClaw/Hermes</a:t>
            </a: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2200" b="1" dirty="0">
                <a:solidFill>
                  <a:srgbClr val="C6FF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</a:t>
            </a:r>
            <a:br>
              <a:rPr lang="en-US" sz="2200" b="1" dirty="0">
                <a:solidFill>
                  <a:srgbClr val="C6FF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200" b="1" dirty="0">
                <a:solidFill>
                  <a:srgbClr val="C6FF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Server</a:t>
            </a: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2000" dirty="0">
                <a:solidFill>
                  <a:srgbClr val="BEEF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agents, manage state, connect tools, guard credentials, and evolve frameworks.</a:t>
            </a:r>
            <a:endParaRPr lang="en-US" sz="20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2F7B95C-A042-B757-EFD5-6EA0802AA44B}"/>
              </a:ext>
            </a:extLst>
          </p:cNvPr>
          <p:cNvSpPr/>
          <p:nvPr/>
        </p:nvSpPr>
        <p:spPr>
          <a:xfrm>
            <a:off x="9215277" y="1420787"/>
            <a:ext cx="2247331" cy="1950422"/>
          </a:xfrm>
          <a:prstGeom prst="rect">
            <a:avLst/>
          </a:prstGeom>
          <a:solidFill>
            <a:srgbClr val="23170C"/>
          </a:solidFill>
          <a:ln w="15240">
            <a:solidFill>
              <a:srgbClr val="FFB74D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</a:t>
            </a: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2200" b="1" dirty="0">
                <a:solidFill>
                  <a:srgbClr val="FFD7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Context Protocol</a:t>
            </a:r>
            <a:r>
              <a:rPr lang="en-US" sz="940" b="1" dirty="0">
                <a:solidFill>
                  <a:srgbClr val="FFD7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2000" dirty="0">
                <a:solidFill>
                  <a:srgbClr val="FFF2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apps to connect to tools and data sources.</a:t>
            </a:r>
            <a:endParaRPr lang="en-US" sz="2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71F165FD-746B-3BB8-E7C8-2160286FC102}"/>
              </a:ext>
            </a:extLst>
          </p:cNvPr>
          <p:cNvSpPr/>
          <p:nvPr/>
        </p:nvSpPr>
        <p:spPr>
          <a:xfrm>
            <a:off x="2781303" y="2132726"/>
            <a:ext cx="470212" cy="310896"/>
          </a:xfrm>
          <a:prstGeom prst="rightArrow">
            <a:avLst/>
          </a:prstGeom>
          <a:solidFill>
            <a:srgbClr val="1ED760"/>
          </a:solidFill>
          <a:ln w="12700">
            <a:solidFill>
              <a:srgbClr val="1ED7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0E67CEBB-E5B7-E366-8A76-44254E0C64FD}"/>
              </a:ext>
            </a:extLst>
          </p:cNvPr>
          <p:cNvSpPr/>
          <p:nvPr/>
        </p:nvSpPr>
        <p:spPr>
          <a:xfrm>
            <a:off x="5367530" y="2142251"/>
            <a:ext cx="470212" cy="310896"/>
          </a:xfrm>
          <a:prstGeom prst="rightArrow">
            <a:avLst/>
          </a:prstGeom>
          <a:solidFill>
            <a:srgbClr val="1ED760"/>
          </a:solidFill>
          <a:ln w="12700">
            <a:solidFill>
              <a:srgbClr val="1ED7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F3D1C37-5EBD-7800-4B91-9E6F4DE8994E}"/>
              </a:ext>
            </a:extLst>
          </p:cNvPr>
          <p:cNvSpPr/>
          <p:nvPr/>
        </p:nvSpPr>
        <p:spPr>
          <a:xfrm>
            <a:off x="8700108" y="2161301"/>
            <a:ext cx="470212" cy="310896"/>
          </a:xfrm>
          <a:prstGeom prst="rightArrow">
            <a:avLst/>
          </a:prstGeom>
          <a:solidFill>
            <a:srgbClr val="FFB74D"/>
          </a:solidFill>
          <a:ln w="12700">
            <a:solidFill>
              <a:srgbClr val="FFB7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 descr="The image depicts a black smartwatch with a grid of black circular buttons, likely representing a digital interface.&#10;&#10;AI-generated content may be incorrect.">
            <a:extLst>
              <a:ext uri="{FF2B5EF4-FFF2-40B4-BE49-F238E27FC236}">
                <a16:creationId xmlns:a16="http://schemas.microsoft.com/office/drawing/2014/main" id="{4D8E5D01-9D59-EFA3-5AAF-AA1665D06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78" y="4493203"/>
            <a:ext cx="468634" cy="468634"/>
          </a:xfrm>
          <a:prstGeom prst="rect">
            <a:avLst/>
          </a:prstGeom>
          <a:ln w="38100">
            <a:solidFill>
              <a:schemeClr val="bg1">
                <a:lumMod val="95000"/>
              </a:schemeClr>
            </a:solidFill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07961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2305" y="1090625"/>
            <a:ext cx="10574020" cy="1464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Pipecat transport is supported by both OpenClaw and Hermes.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access tool calls, persistent memory, and skills.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C9D1D9"/>
                </a:solidFill>
                <a:latin typeface="Arial" pitchFamily="34" charset="0"/>
                <a:cs typeface="Arial" pitchFamily="34" charset="-120"/>
              </a:rPr>
              <a:t>We </a:t>
            </a:r>
            <a:r>
              <a:rPr lang="en-US" sz="2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access multiple agents by PORT from the client.</a:t>
            </a:r>
            <a:r>
              <a:rPr lang="en-US" sz="2800" dirty="0">
                <a:solidFill>
                  <a:srgbClr val="C9D1D9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992630" y="2695575"/>
            <a:ext cx="3566160" cy="2643103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75510" y="287845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75509" y="3384620"/>
            <a:ext cx="3193643" cy="313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AI Assistant</a:t>
            </a:r>
            <a:endParaRPr lang="en-US" sz="2000" b="1" i="1" dirty="0"/>
          </a:p>
        </p:txBody>
      </p:sp>
      <p:sp>
        <p:nvSpPr>
          <p:cNvPr id="16" name="Text 14"/>
          <p:cNvSpPr/>
          <p:nvPr/>
        </p:nvSpPr>
        <p:spPr>
          <a:xfrm>
            <a:off x="2168753" y="3838575"/>
            <a:ext cx="3200400" cy="989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Tool calls (web, files, code)
•  Plugin / skills ecosystem
•  Multi-modal interfaces
•  Large voice community</a:t>
            </a: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33110" y="2695575"/>
            <a:ext cx="3566160" cy="2643103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15990" y="287845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15990" y="3384894"/>
            <a:ext cx="3200400" cy="213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 Agent</a:t>
            </a:r>
            <a:endParaRPr lang="en-US" sz="2000" b="1" i="1" dirty="0"/>
          </a:p>
        </p:txBody>
      </p:sp>
      <p:sp>
        <p:nvSpPr>
          <p:cNvPr id="22" name="Text 20"/>
          <p:cNvSpPr/>
          <p:nvPr/>
        </p:nvSpPr>
        <p:spPr>
          <a:xfrm>
            <a:off x="5949461" y="3827483"/>
            <a:ext cx="3285058" cy="1281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Persistent memory, learning
•  Auto-creates skills from use
•  Long-running agent loops
•  Self-improving over time</a:t>
            </a: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CA1B11E-3E98-58B2-1258-24C34D97FD54}"/>
              </a:ext>
            </a:extLst>
          </p:cNvPr>
          <p:cNvSpPr/>
          <p:nvPr/>
        </p:nvSpPr>
        <p:spPr>
          <a:xfrm>
            <a:off x="1446028" y="5705239"/>
            <a:ext cx="7535041" cy="8821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8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Pipecat</a:t>
            </a:r>
            <a:r>
              <a:rPr lang="en-US" sz="2800" dirty="0">
                <a:solidFill>
                  <a:srgbClr val="C9D1D9"/>
                </a:solidFill>
                <a:latin typeface="Arial" pitchFamily="34" charset="0"/>
                <a:cs typeface="Arial" pitchFamily="34" charset="-120"/>
              </a:rPr>
              <a:t> demo implements a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-120"/>
              </a:rPr>
              <a:t>Baseball Agent </a:t>
            </a:r>
            <a:r>
              <a:rPr lang="en-US" sz="2800" dirty="0">
                <a:solidFill>
                  <a:srgbClr val="C9D1D9"/>
                </a:solidFill>
                <a:latin typeface="Arial" pitchFamily="34" charset="0"/>
                <a:cs typeface="Arial" pitchFamily="34" charset="-120"/>
              </a:rPr>
              <a:t>called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-120"/>
              </a:rPr>
              <a:t>“Homer” </a:t>
            </a:r>
            <a:r>
              <a:rPr lang="en-US" sz="2800" dirty="0">
                <a:solidFill>
                  <a:srgbClr val="C9D1D9"/>
                </a:solidFill>
                <a:latin typeface="Arial" pitchFamily="34" charset="0"/>
                <a:cs typeface="Arial" pitchFamily="34" charset="-120"/>
              </a:rPr>
              <a:t>on OpenClaw</a:t>
            </a:r>
            <a:endParaRPr lang="en-US" sz="2800" dirty="0"/>
          </a:p>
        </p:txBody>
      </p:sp>
      <p:pic>
        <p:nvPicPr>
          <p:cNvPr id="6" name="Picture 5" descr="The image depicts a classic baseball with a white baseball and a red baseball stitched on the leather.&#10;&#10;AI-generated content may be incorrect.">
            <a:extLst>
              <a:ext uri="{FF2B5EF4-FFF2-40B4-BE49-F238E27FC236}">
                <a16:creationId xmlns:a16="http://schemas.microsoft.com/office/drawing/2014/main" id="{5AF5778F-0D67-D802-F382-C4F16408B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828" y="5767375"/>
            <a:ext cx="643437" cy="599775"/>
          </a:xfrm>
          <a:prstGeom prst="rect">
            <a:avLst/>
          </a:prstGeom>
        </p:spPr>
      </p:pic>
      <p:pic>
        <p:nvPicPr>
          <p:cNvPr id="7" name="Picture 6" descr="The image depicts a simple, green circular shape with a stylized, curved, upward-pointing symbol, resembling an arrow or an upward-pointing line.&#10;&#10;AI-generated content may be incorrect.">
            <a:extLst>
              <a:ext uri="{FF2B5EF4-FFF2-40B4-BE49-F238E27FC236}">
                <a16:creationId xmlns:a16="http://schemas.microsoft.com/office/drawing/2014/main" id="{B0CE2C1A-FC04-E74F-334E-50AC649B3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21" y="5725392"/>
            <a:ext cx="860295" cy="724647"/>
          </a:xfrm>
          <a:prstGeom prst="rect">
            <a:avLst/>
          </a:prstGeom>
        </p:spPr>
      </p:pic>
      <p:pic>
        <p:nvPicPr>
          <p:cNvPr id="31" name="Picture 30" descr="OHTANI,&#10;&#10;AI-generated content may be incorrect.">
            <a:extLst>
              <a:ext uri="{FF2B5EF4-FFF2-40B4-BE49-F238E27FC236}">
                <a16:creationId xmlns:a16="http://schemas.microsoft.com/office/drawing/2014/main" id="{E2BDD46C-E915-46BA-D0FB-6F88B0D48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044" y="3880075"/>
            <a:ext cx="1284982" cy="25699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F2D46-C876-F110-AF14-3B575E69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16358650-D4DA-F9D0-C5DB-EC0E0E96E45F}"/>
              </a:ext>
            </a:extLst>
          </p:cNvPr>
          <p:cNvSpPr/>
          <p:nvPr/>
        </p:nvSpPr>
        <p:spPr>
          <a:xfrm>
            <a:off x="-64928" y="0"/>
            <a:ext cx="12253753" cy="68631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AC6FB05-F2F0-20B5-8E6C-114B82B2B535}"/>
              </a:ext>
            </a:extLst>
          </p:cNvPr>
          <p:cNvSpPr/>
          <p:nvPr/>
        </p:nvSpPr>
        <p:spPr>
          <a:xfrm>
            <a:off x="502920" y="159722"/>
            <a:ext cx="11274552" cy="705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Pipecat Client App Overview</a:t>
            </a:r>
            <a:endParaRPr lang="en-US" sz="4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B1698A3-6818-C976-CE6E-468B1C2AFE2B}"/>
              </a:ext>
            </a:extLst>
          </p:cNvPr>
          <p:cNvSpPr/>
          <p:nvPr/>
        </p:nvSpPr>
        <p:spPr>
          <a:xfrm>
            <a:off x="502920" y="1034704"/>
            <a:ext cx="11183112" cy="448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Integration with Server-Side Brain</a:t>
            </a:r>
            <a:endParaRPr lang="en-US" sz="28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DBD7B6E-479B-814C-22D4-0013C0EC504C}"/>
              </a:ext>
            </a:extLst>
          </p:cNvPr>
          <p:cNvSpPr/>
          <p:nvPr/>
        </p:nvSpPr>
        <p:spPr>
          <a:xfrm>
            <a:off x="502920" y="1447801"/>
            <a:ext cx="11183112" cy="459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i="1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the mic and speaker. All intelligence lives on a Pipecat server.</a:t>
            </a:r>
            <a:endParaRPr lang="en-US" sz="24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5F03E202-78A5-1C8B-6F5A-00037AB54FDA}"/>
              </a:ext>
            </a:extLst>
          </p:cNvPr>
          <p:cNvSpPr/>
          <p:nvPr/>
        </p:nvSpPr>
        <p:spPr>
          <a:xfrm>
            <a:off x="502920" y="1946139"/>
            <a:ext cx="11183112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B0B29693-1CAF-DCEC-42FA-96CBE4830A1F}"/>
              </a:ext>
            </a:extLst>
          </p:cNvPr>
          <p:cNvSpPr/>
          <p:nvPr/>
        </p:nvSpPr>
        <p:spPr>
          <a:xfrm>
            <a:off x="502920" y="2071731"/>
            <a:ext cx="11449209" cy="440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chemeClr val="accent1"/>
                </a:solidFill>
                <a:ea typeface="Calibri" pitchFamily="34" charset="-122"/>
                <a:cs typeface="Calibri" pitchFamily="34" charset="-120"/>
              </a:rPr>
              <a:t>KEY CONCEPTS</a:t>
            </a:r>
            <a:endParaRPr lang="en-US" sz="28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Phone 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is just a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Mic + Speaker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— </a:t>
            </a:r>
            <a:b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   All intelligence (STT, LLM, TTS, turn-taking, barge-in) lives on the Pipecat server.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Simple Architecture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— No Token Management. </a:t>
            </a:r>
            <a:b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       Connect by </a:t>
            </a:r>
            <a:r>
              <a:rPr lang="en-US" sz="2400" kern="0" dirty="0" err="1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POSTing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an SDP offer to /</a:t>
            </a:r>
            <a:r>
              <a:rPr lang="en-US" sz="2400" kern="0" dirty="0" err="1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api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/offer. Pure P2P WebRTC.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Entire SDK in One File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2400" kern="0" dirty="0" err="1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PicaVoiceClient.kt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Instant Barge-In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— Stops local playback the instant you speak</a:t>
            </a:r>
            <a:endParaRPr lang="en-US" sz="2400" dirty="0"/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Agent Integration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— Server-side brain, Agent framework — OpenClaw or Hermes. </a:t>
            </a:r>
            <a:b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   Tool calls and memory built in.</a:t>
            </a:r>
            <a:b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    Huge Python support for Agentic AI available on the server side.</a:t>
            </a:r>
          </a:p>
          <a:p>
            <a:r>
              <a:rPr lang="en-US" sz="2800" b="1" kern="0" dirty="0">
                <a:solidFill>
                  <a:schemeClr val="accent2"/>
                </a:solidFill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b="1" kern="0" dirty="0">
                <a:solidFill>
                  <a:srgbClr val="7CDC8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400" b="1" kern="0" dirty="0">
                <a:ea typeface="Calibri" pitchFamily="34" charset="-122"/>
                <a:cs typeface="Calibri" pitchFamily="34" charset="-120"/>
              </a:rPr>
              <a:t>AEC3 echo cancellation </a:t>
            </a:r>
            <a:r>
              <a:rPr lang="en-US" sz="2400" kern="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2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Free from </a:t>
            </a:r>
            <a:r>
              <a:rPr lang="en-US" sz="2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libwebrtc</a:t>
            </a:r>
            <a:r>
              <a:rPr lang="en-US" sz="2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 on both ends.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514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5D3F3-B360-15CE-A33B-00BE3B5A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81CC29DC-BBF3-3C4C-D916-0642A8CCF273}"/>
              </a:ext>
            </a:extLst>
          </p:cNvPr>
          <p:cNvSpPr/>
          <p:nvPr/>
        </p:nvSpPr>
        <p:spPr>
          <a:xfrm>
            <a:off x="0" y="0"/>
            <a:ext cx="12240613" cy="68631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7CDC85"/>
              </a:solidFill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9830F1AF-B909-4537-5C6A-242C7D37782F}"/>
              </a:ext>
            </a:extLst>
          </p:cNvPr>
          <p:cNvSpPr/>
          <p:nvPr/>
        </p:nvSpPr>
        <p:spPr>
          <a:xfrm>
            <a:off x="8980910" y="1337125"/>
            <a:ext cx="3118100" cy="1247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BE18D260-8F3F-6020-9407-FC63A3706BE1}"/>
              </a:ext>
            </a:extLst>
          </p:cNvPr>
          <p:cNvSpPr/>
          <p:nvPr/>
        </p:nvSpPr>
        <p:spPr>
          <a:xfrm>
            <a:off x="8980910" y="3220174"/>
            <a:ext cx="3118100" cy="13596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D8DD229F-AFB0-166D-937E-2D024EAEC29A}"/>
              </a:ext>
            </a:extLst>
          </p:cNvPr>
          <p:cNvSpPr/>
          <p:nvPr/>
        </p:nvSpPr>
        <p:spPr>
          <a:xfrm>
            <a:off x="8980910" y="5064471"/>
            <a:ext cx="3118100" cy="13596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3B41F7B-3C82-BCE1-06B2-48D698377534}"/>
              </a:ext>
            </a:extLst>
          </p:cNvPr>
          <p:cNvSpPr/>
          <p:nvPr/>
        </p:nvSpPr>
        <p:spPr>
          <a:xfrm>
            <a:off x="51788" y="103783"/>
            <a:ext cx="12188825" cy="434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Pipecat Client App Demo and Code Review</a:t>
            </a:r>
            <a:endParaRPr lang="en-US" sz="3600" b="1" dirty="0"/>
          </a:p>
        </p:txBody>
      </p:sp>
      <p:pic>
        <p:nvPicPr>
          <p:cNvPr id="7" name="Picture 6" descr="The image appears to be a snippet of code from an Android project, specifically from a Kotlin file related to a voice client application. It includes a class named `PicaVoiceClient` with an interface `Listener` that defines various callback methods for voice communication events.&#10;&#10;AI-generated content may be incorrect.">
            <a:extLst>
              <a:ext uri="{FF2B5EF4-FFF2-40B4-BE49-F238E27FC236}">
                <a16:creationId xmlns:a16="http://schemas.microsoft.com/office/drawing/2014/main" id="{A7F76D33-2B7E-9A30-4270-3E17D952A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950" y="799588"/>
            <a:ext cx="7985060" cy="59546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56CF126-967C-DC88-852B-1F3985B89ED2}"/>
              </a:ext>
            </a:extLst>
          </p:cNvPr>
          <p:cNvSpPr/>
          <p:nvPr/>
        </p:nvSpPr>
        <p:spPr>
          <a:xfrm>
            <a:off x="6286666" y="1962212"/>
            <a:ext cx="5353050" cy="362938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 wrap="none" lIns="274320" tIns="274320" bIns="365760" rtlCol="0" anchor="ctr"/>
          <a:lstStyle/>
          <a:p>
            <a:r>
              <a:rPr lang="en-US" sz="2000" b="1" dirty="0">
                <a:latin typeface="Consolas" panose="020B0609020204030204" pitchFamily="49" charset="0"/>
                <a:ea typeface="Arial" pitchFamily="34" charset="-122"/>
                <a:cs typeface="Arial" pitchFamily="34" charset="-120"/>
              </a:rPr>
              <a:t>README.md – Docs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latin typeface="Consolas" panose="020B0609020204030204" pitchFamily="49" charset="0"/>
                <a:cs typeface="Arial" pitchFamily="34" charset="-120"/>
              </a:rPr>
              <a:t>PicaVoiceClient.kt</a:t>
            </a: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– Pipecat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latin typeface="Consolas" panose="020B0609020204030204" pitchFamily="49" charset="0"/>
                <a:cs typeface="Arial" pitchFamily="34" charset="-120"/>
              </a:rPr>
              <a:t>BasesVisualizer.kt</a:t>
            </a: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- Visualizer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Homer OpenClaw Server Repo: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   Skills/mlb.py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   Workspace/Soul.md</a:t>
            </a:r>
            <a:br>
              <a:rPr lang="en-US" sz="2000" b="1" dirty="0">
                <a:latin typeface="Consolas" panose="020B0609020204030204" pitchFamily="49" charset="0"/>
                <a:cs typeface="Arial" pitchFamily="34" charset="-120"/>
              </a:rPr>
            </a:b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   Workspace/Identity.md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Arial" pitchFamily="34" charset="-120"/>
              </a:rPr>
              <a:t>    Workspace/Agents.md </a:t>
            </a:r>
          </a:p>
        </p:txBody>
      </p:sp>
      <p:pic>
        <p:nvPicPr>
          <p:cNvPr id="3" name="Picture 2" descr="The image displays a list of agents with their names, contact details, and assigned IP addresses, along with options to add new agents or start the service.&#10;&#10;AI-generated content may be incorrect.">
            <a:extLst>
              <a:ext uri="{FF2B5EF4-FFF2-40B4-BE49-F238E27FC236}">
                <a16:creationId xmlns:a16="http://schemas.microsoft.com/office/drawing/2014/main" id="{209D5474-93F3-6329-DEC6-362644276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94" y="1000994"/>
            <a:ext cx="2684155" cy="5635256"/>
          </a:xfrm>
          <a:prstGeom prst="rect">
            <a:avLst/>
          </a:prstGeom>
        </p:spPr>
      </p:pic>
      <p:pic>
        <p:nvPicPr>
          <p:cNvPr id="22" name="Picture 21" descr="The image depicts a simple, green circular shape with a stylized, curved, upward-pointing symbol, resembling an arrow or an upward-pointing line.&#10;&#10;AI-generated content may be incorrect.">
            <a:extLst>
              <a:ext uri="{FF2B5EF4-FFF2-40B4-BE49-F238E27FC236}">
                <a16:creationId xmlns:a16="http://schemas.microsoft.com/office/drawing/2014/main" id="{4BC6BF89-D149-A074-2DA0-D5789E331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91" y="599502"/>
            <a:ext cx="875700" cy="737623"/>
          </a:xfrm>
          <a:prstGeom prst="rect">
            <a:avLst/>
          </a:prstGeom>
        </p:spPr>
      </p:pic>
      <p:pic>
        <p:nvPicPr>
          <p:cNvPr id="9" name="Picture 8" descr="The image displays a software interface with a pitch detection feature, showing a baseball pitch, a timer reading of 6364 ms, and options for saving the audio.&#10;&#10;AI-generated content may be incorrect.">
            <a:extLst>
              <a:ext uri="{FF2B5EF4-FFF2-40B4-BE49-F238E27FC236}">
                <a16:creationId xmlns:a16="http://schemas.microsoft.com/office/drawing/2014/main" id="{B7550147-6070-9B8E-981E-4388669541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0451" y="997682"/>
            <a:ext cx="2616921" cy="563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62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08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761826" y="2601974"/>
            <a:ext cx="8120698" cy="94614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chemeClr val="accent4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76227" y="2635036"/>
            <a:ext cx="7101522" cy="535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Architectures, Match Your Requirements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689879" y="3062725"/>
            <a:ext cx="3468953" cy="408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cs typeface="Arial" pitchFamily="34" charset="-120"/>
              </a:rPr>
              <a:t>Local, Cloud, Agentic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246629" y="3970473"/>
            <a:ext cx="7325996" cy="94614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chemeClr val="accent4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30504" y="4041508"/>
            <a:ext cx="6151621" cy="50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Tokens Beat Secret-Stuffing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4039" y="4400366"/>
            <a:ext cx="3846525" cy="507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keys in the APK 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46869482-09D9-79C3-7290-602A814AEEBE}"/>
              </a:ext>
            </a:extLst>
          </p:cNvPr>
          <p:cNvSpPr/>
          <p:nvPr/>
        </p:nvSpPr>
        <p:spPr>
          <a:xfrm>
            <a:off x="2517499" y="418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117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9A00DED1-2C5B-7EBC-E654-1249A83B08E6}"/>
              </a:ext>
            </a:extLst>
          </p:cNvPr>
          <p:cNvSpPr/>
          <p:nvPr/>
        </p:nvSpPr>
        <p:spPr>
          <a:xfrm>
            <a:off x="3038416" y="1309128"/>
            <a:ext cx="5750042" cy="902766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3175">
            <a:solidFill>
              <a:schemeClr val="accent4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D6F06320-3A55-79D3-9432-AE088C5DE577}"/>
              </a:ext>
            </a:extLst>
          </p:cNvPr>
          <p:cNvSpPr/>
          <p:nvPr/>
        </p:nvSpPr>
        <p:spPr>
          <a:xfrm>
            <a:off x="3308968" y="1466595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DEA8498C-29BC-5350-F562-50DD2595FF51}"/>
              </a:ext>
            </a:extLst>
          </p:cNvPr>
          <p:cNvSpPr/>
          <p:nvPr/>
        </p:nvSpPr>
        <p:spPr>
          <a:xfrm>
            <a:off x="3966527" y="1319418"/>
            <a:ext cx="444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Architect, Don’t Code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ED15ACEE-E290-54B4-E00A-0964F1EE35EC}"/>
              </a:ext>
            </a:extLst>
          </p:cNvPr>
          <p:cNvSpPr/>
          <p:nvPr/>
        </p:nvSpPr>
        <p:spPr>
          <a:xfrm>
            <a:off x="3952817" y="1696676"/>
            <a:ext cx="4555375" cy="567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cs typeface="Arial" pitchFamily="34" charset="-120"/>
              </a:rPr>
              <a:t>Coding agents write the code 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48726491-4380-65EB-AFCC-4A4F71A98078}"/>
              </a:ext>
            </a:extLst>
          </p:cNvPr>
          <p:cNvSpPr/>
          <p:nvPr/>
        </p:nvSpPr>
        <p:spPr>
          <a:xfrm>
            <a:off x="1023302" y="5393392"/>
            <a:ext cx="9901873" cy="94614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chemeClr val="accent4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C277174C-E4E9-10B9-C374-223A7ECEE213}"/>
              </a:ext>
            </a:extLst>
          </p:cNvPr>
          <p:cNvSpPr/>
          <p:nvPr/>
        </p:nvSpPr>
        <p:spPr>
          <a:xfrm>
            <a:off x="2007177" y="5476411"/>
            <a:ext cx="4758609" cy="381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-120"/>
              </a:rPr>
              <a:t>Powerful Agentic Frameworks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EAF5AC21-B7B1-DD0D-86D5-1E01E2D88637}"/>
              </a:ext>
            </a:extLst>
          </p:cNvPr>
          <p:cNvSpPr/>
          <p:nvPr/>
        </p:nvSpPr>
        <p:spPr>
          <a:xfrm>
            <a:off x="2007178" y="5867233"/>
            <a:ext cx="89179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in class open-source python 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OpenClaw and Hermes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BB9FFDC-7F2D-8E6D-C8F1-590585D149B5}"/>
              </a:ext>
            </a:extLst>
          </p:cNvPr>
          <p:cNvSpPr/>
          <p:nvPr/>
        </p:nvSpPr>
        <p:spPr>
          <a:xfrm>
            <a:off x="1294172" y="555506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F4B9CB8-7E47-A8A7-BF33-DEA784FACE16}"/>
              </a:ext>
            </a:extLst>
          </p:cNvPr>
          <p:cNvSpPr/>
          <p:nvPr/>
        </p:nvSpPr>
        <p:spPr>
          <a:xfrm>
            <a:off x="3295316" y="153000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4EDA002C-11EF-E69F-7AFA-B6D556D2F614}"/>
              </a:ext>
            </a:extLst>
          </p:cNvPr>
          <p:cNvSpPr/>
          <p:nvPr/>
        </p:nvSpPr>
        <p:spPr>
          <a:xfrm>
            <a:off x="2032378" y="28464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AEE7465A-B19F-0B15-67A4-32ED5668EBEE}"/>
              </a:ext>
            </a:extLst>
          </p:cNvPr>
          <p:cNvSpPr/>
          <p:nvPr/>
        </p:nvSpPr>
        <p:spPr>
          <a:xfrm>
            <a:off x="2535736" y="42130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34307783-9C8C-394C-045D-2357EBEB6EE3}"/>
              </a:ext>
            </a:extLst>
          </p:cNvPr>
          <p:cNvSpPr/>
          <p:nvPr/>
        </p:nvSpPr>
        <p:spPr>
          <a:xfrm>
            <a:off x="1312409" y="565412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36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6FCEA-F324-F81C-D495-F7EDA656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9">
            <a:extLst>
              <a:ext uri="{FF2B5EF4-FFF2-40B4-BE49-F238E27FC236}">
                <a16:creationId xmlns:a16="http://schemas.microsoft.com/office/drawing/2014/main" id="{A5E97485-E2D3-DF64-1C32-72A68E88FA67}"/>
              </a:ext>
            </a:extLst>
          </p:cNvPr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DroidKaigi 2026  ·  Tokyo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4EFC32-BC64-FC5B-92A2-C7A6BBAA46D8}"/>
              </a:ext>
            </a:extLst>
          </p:cNvPr>
          <p:cNvSpPr/>
          <p:nvPr/>
        </p:nvSpPr>
        <p:spPr>
          <a:xfrm>
            <a:off x="400513" y="2873055"/>
            <a:ext cx="7967310" cy="103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i="1" dirty="0">
                <a:solidFill>
                  <a:srgbClr val="FFFFFF"/>
                </a:solidFill>
                <a:latin typeface="Brush Script MT" panose="03060802040406070304" pitchFamily="66" charset="0"/>
                <a:cs typeface="Arial" pitchFamily="34" charset="-120"/>
              </a:rPr>
              <a:t>Thank You</a:t>
            </a:r>
            <a:endParaRPr lang="en-US" sz="8800" dirty="0">
              <a:latin typeface="Brush Script MT" panose="03060802040406070304" pitchFamily="66" charset="0"/>
            </a:endParaRPr>
          </a:p>
        </p:txBody>
      </p:sp>
      <p:pic>
        <p:nvPicPr>
          <p:cNvPr id="4" name="Picture 3" descr="Android Gets a Voice: Building Real-Time Agents.&#10;&#10;AI-generated content may be incorrect.">
            <a:extLst>
              <a:ext uri="{FF2B5EF4-FFF2-40B4-BE49-F238E27FC236}">
                <a16:creationId xmlns:a16="http://schemas.microsoft.com/office/drawing/2014/main" id="{EE8A41BA-89A4-1876-56BB-A20E3514E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338" y="2167362"/>
            <a:ext cx="2523276" cy="252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07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2597</TotalTime>
  <Words>7394</Words>
  <Application>Microsoft Office PowerPoint</Application>
  <PresentationFormat>Custom</PresentationFormat>
  <Paragraphs>1116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Aptos</vt:lpstr>
      <vt:lpstr>Arial</vt:lpstr>
      <vt:lpstr>Arial Rounded MT Bold</vt:lpstr>
      <vt:lpstr>Berlin Sans FB</vt:lpstr>
      <vt:lpstr>Brush Script MT</vt:lpstr>
      <vt:lpstr>Calibri</vt:lpstr>
      <vt:lpstr>Calibri Light</vt:lpstr>
      <vt:lpstr>Candara Light</vt:lpstr>
      <vt:lpstr>Consolas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W</cp:lastModifiedBy>
  <cp:revision>202</cp:revision>
  <cp:lastPrinted>2026-08-11T20:32:26Z</cp:lastPrinted>
  <dcterms:created xsi:type="dcterms:W3CDTF">2026-06-13T03:27:16Z</dcterms:created>
  <dcterms:modified xsi:type="dcterms:W3CDTF">2026-08-14T01:26:53Z</dcterms:modified>
</cp:coreProperties>
</file>